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3"/>
    <p:sldMasterId id="214748367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PT Sans Narrow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11" Type="http://schemas.openxmlformats.org/officeDocument/2006/relationships/slide" Target="slides/slide6.xml"/><Relationship Id="rId22" Type="http://schemas.openxmlformats.org/officeDocument/2006/relationships/font" Target="fonts/PTSansNarrow-regular.fntdata"/><Relationship Id="rId10" Type="http://schemas.openxmlformats.org/officeDocument/2006/relationships/slide" Target="slides/slide5.xml"/><Relationship Id="rId21" Type="http://schemas.openxmlformats.org/officeDocument/2006/relationships/font" Target="fonts/Raleway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PTSansNarrow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.fntdata"/><Relationship Id="rId6" Type="http://schemas.openxmlformats.org/officeDocument/2006/relationships/slide" Target="slides/slide1.xml"/><Relationship Id="rId18" Type="http://schemas.openxmlformats.org/officeDocument/2006/relationships/font" Target="fonts/Raleway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853f375a1_0_81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e853f375a1_0_81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e853f375a1_0_81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e853f375a1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e853f375a1_0_81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e853f375a1_0_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853f375a1_0_232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e853f375a1_0_232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e853f375a1_0_232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e853f375a1_0_2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e853f375a1_0_232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e853f375a1_0_2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853f375a1_0_2477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e853f375a1_0_2477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e853f375a1_0_2477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e853f375a1_0_24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e853f375a1_0_2477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e853f375a1_0_24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853f375a1_0_2919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e853f375a1_0_2919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e853f375a1_0_2919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e853f375a1_0_29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e853f375a1_0_2919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e853f375a1_0_29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853f375a1_0_3121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e853f375a1_0_3121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e853f375a1_0_3121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e853f375a1_0_31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e853f375a1_0_3121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e853f375a1_0_31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853f375a1_0_1387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e853f375a1_0_1387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e853f375a1_0_1387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e853f375a1_0_13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e853f375a1_0_1387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e853f375a1_0_13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e853f375a1_0_1600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e853f375a1_0_1600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e853f375a1_0_1600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3e853f375a1_0_16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e853f375a1_0_1600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e853f375a1_0_16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e853f375a1_0_1830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e853f375a1_0_1830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e853f375a1_0_1830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g3e853f375a1_0_18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e853f375a1_0_1830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e853f375a1_0_18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e853f375a1_0_2049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e853f375a1_0_2049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e853f375a1_0_2049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3e853f375a1_0_20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e853f375a1_0_2049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e853f375a1_0_20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e853f375a1_0_2253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e853f375a1_0_2253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e853f375a1_0_2253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g3e853f375a1_0_22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e853f375a1_0_2253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g3e853f375a1_0_22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18" name="Google Shape;41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aletrix Title Page">
  <p:cSld name="Scaletrix Title Pag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-67" y="0"/>
            <a:ext cx="12192000" cy="632797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4250" l="0" r="5636" t="0"/>
          <a:stretch/>
        </p:blipFill>
        <p:spPr>
          <a:xfrm flipH="1">
            <a:off x="937527" y="1260005"/>
            <a:ext cx="5091797" cy="448636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/>
          <p:nvPr/>
        </p:nvSpPr>
        <p:spPr>
          <a:xfrm>
            <a:off x="0" y="0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6279060" y="2107188"/>
            <a:ext cx="5455740" cy="10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2023409"/>
            <a:ext cx="10515600" cy="39556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2840535" y="4195828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415600" y="4289085"/>
            <a:ext cx="11428400" cy="12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idx="1" type="body"/>
          </p:nvPr>
        </p:nvSpPr>
        <p:spPr>
          <a:xfrm>
            <a:off x="1081404" y="5270123"/>
            <a:ext cx="7998400" cy="7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T Sans Narrow"/>
              <a:buNone/>
              <a:defRPr b="0" i="0" sz="32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idx="1" type="body"/>
          </p:nvPr>
        </p:nvSpPr>
        <p:spPr>
          <a:xfrm>
            <a:off x="415600" y="1672836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7"/>
          <p:cNvSpPr txBox="1"/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>
            <p:ph idx="2" type="pic"/>
          </p:nvPr>
        </p:nvSpPr>
        <p:spPr>
          <a:xfrm>
            <a:off x="5183188" y="2049463"/>
            <a:ext cx="6172200" cy="3811588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15600" y="2602499"/>
            <a:ext cx="11360800" cy="3153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 and two columns 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subTitle"/>
          </p:nvPr>
        </p:nvSpPr>
        <p:spPr>
          <a:xfrm>
            <a:off x="1802727" y="3860800"/>
            <a:ext cx="3646280" cy="4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10"/>
          <p:cNvSpPr txBox="1"/>
          <p:nvPr>
            <p:ph idx="2" type="subTitle"/>
          </p:nvPr>
        </p:nvSpPr>
        <p:spPr>
          <a:xfrm>
            <a:off x="1802727" y="4362700"/>
            <a:ext cx="3646280" cy="12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0"/>
          <p:cNvSpPr txBox="1"/>
          <p:nvPr>
            <p:ph idx="3" type="subTitle"/>
          </p:nvPr>
        </p:nvSpPr>
        <p:spPr>
          <a:xfrm>
            <a:off x="6743027" y="3860800"/>
            <a:ext cx="3646280" cy="4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10"/>
          <p:cNvSpPr txBox="1"/>
          <p:nvPr>
            <p:ph idx="4" type="subTitle"/>
          </p:nvPr>
        </p:nvSpPr>
        <p:spPr>
          <a:xfrm>
            <a:off x="6743027" y="4362700"/>
            <a:ext cx="3646280" cy="12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10"/>
          <p:cNvSpPr txBox="1"/>
          <p:nvPr>
            <p:ph type="title"/>
          </p:nvPr>
        </p:nvSpPr>
        <p:spPr>
          <a:xfrm>
            <a:off x="403199" y="115200"/>
            <a:ext cx="10550999" cy="100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type="title"/>
          </p:nvPr>
        </p:nvSpPr>
        <p:spPr>
          <a:xfrm>
            <a:off x="415600" y="2236481"/>
            <a:ext cx="11360800" cy="20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415600" y="4490881"/>
            <a:ext cx="11360800" cy="14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6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aletrix Title Page">
  <p:cSld name="Scaletrix Title Page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/>
          <p:nvPr/>
        </p:nvSpPr>
        <p:spPr>
          <a:xfrm>
            <a:off x="-67" y="0"/>
            <a:ext cx="12192000" cy="632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15"/>
          <p:cNvPicPr preferRelativeResize="0"/>
          <p:nvPr/>
        </p:nvPicPr>
        <p:blipFill rotWithShape="1">
          <a:blip r:embed="rId2">
            <a:alphaModFix/>
          </a:blip>
          <a:srcRect b="4250" l="0" r="5636" t="0"/>
          <a:stretch/>
        </p:blipFill>
        <p:spPr>
          <a:xfrm flipH="1">
            <a:off x="937527" y="1260005"/>
            <a:ext cx="5091797" cy="4486363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/>
          <p:nvPr/>
        </p:nvSpPr>
        <p:spPr>
          <a:xfrm>
            <a:off x="0" y="0"/>
            <a:ext cx="12195000" cy="524700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6279060" y="2107188"/>
            <a:ext cx="54558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838200" y="2023409"/>
            <a:ext cx="10515600" cy="39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11323907" y="6414447"/>
            <a:ext cx="731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idx="1" type="subTitle"/>
          </p:nvPr>
        </p:nvSpPr>
        <p:spPr>
          <a:xfrm>
            <a:off x="2840535" y="4195828"/>
            <a:ext cx="64941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11323907" y="6414447"/>
            <a:ext cx="731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>
            <p:ph type="title"/>
          </p:nvPr>
        </p:nvSpPr>
        <p:spPr>
          <a:xfrm>
            <a:off x="415600" y="4289085"/>
            <a:ext cx="11428500" cy="12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2" type="sldNum"/>
          </p:nvPr>
        </p:nvSpPr>
        <p:spPr>
          <a:xfrm>
            <a:off x="11323907" y="6414447"/>
            <a:ext cx="731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>
            <a:lvl1pPr indent="0" lvl="0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1081404" y="5270123"/>
            <a:ext cx="79983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T Sans Narrow"/>
              <a:buNone/>
              <a:defRPr b="0" i="0" sz="32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11323907" y="6414447"/>
            <a:ext cx="731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/>
          <p:nvPr>
            <p:ph idx="1" type="body"/>
          </p:nvPr>
        </p:nvSpPr>
        <p:spPr>
          <a:xfrm>
            <a:off x="415600" y="1672836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11323907" y="6414447"/>
            <a:ext cx="731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>
            <p:ph idx="2" type="pic"/>
          </p:nvPr>
        </p:nvSpPr>
        <p:spPr>
          <a:xfrm>
            <a:off x="5183188" y="2049463"/>
            <a:ext cx="6172200" cy="38115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839788" y="2057401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90" name="Google Shape;90;p21"/>
          <p:cNvSpPr txBox="1"/>
          <p:nvPr>
            <p:ph idx="12" type="sldNum"/>
          </p:nvPr>
        </p:nvSpPr>
        <p:spPr>
          <a:xfrm>
            <a:off x="11323907" y="6414447"/>
            <a:ext cx="731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idx="1" type="body"/>
          </p:nvPr>
        </p:nvSpPr>
        <p:spPr>
          <a:xfrm>
            <a:off x="415600" y="2602499"/>
            <a:ext cx="11360700" cy="31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22"/>
          <p:cNvSpPr txBox="1"/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94" name="Google Shape;94;p22"/>
          <p:cNvSpPr txBox="1"/>
          <p:nvPr>
            <p:ph idx="12" type="sldNum"/>
          </p:nvPr>
        </p:nvSpPr>
        <p:spPr>
          <a:xfrm>
            <a:off x="11323907" y="6414447"/>
            <a:ext cx="731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 and two columns 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3"/>
          <p:cNvSpPr txBox="1"/>
          <p:nvPr>
            <p:ph idx="1" type="subTitle"/>
          </p:nvPr>
        </p:nvSpPr>
        <p:spPr>
          <a:xfrm>
            <a:off x="1802727" y="3860800"/>
            <a:ext cx="3646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23"/>
          <p:cNvSpPr txBox="1"/>
          <p:nvPr>
            <p:ph idx="2" type="subTitle"/>
          </p:nvPr>
        </p:nvSpPr>
        <p:spPr>
          <a:xfrm>
            <a:off x="1802727" y="4362700"/>
            <a:ext cx="3646200" cy="12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3"/>
          <p:cNvSpPr txBox="1"/>
          <p:nvPr>
            <p:ph idx="3" type="subTitle"/>
          </p:nvPr>
        </p:nvSpPr>
        <p:spPr>
          <a:xfrm>
            <a:off x="6743027" y="3860800"/>
            <a:ext cx="3646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867"/>
              <a:buFont typeface="Arial"/>
              <a:buNone/>
              <a:defRPr b="1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23"/>
          <p:cNvSpPr txBox="1"/>
          <p:nvPr>
            <p:ph idx="4" type="subTitle"/>
          </p:nvPr>
        </p:nvSpPr>
        <p:spPr>
          <a:xfrm>
            <a:off x="6743027" y="4362700"/>
            <a:ext cx="3646200" cy="12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867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23"/>
          <p:cNvSpPr txBox="1"/>
          <p:nvPr>
            <p:ph type="title"/>
          </p:nvPr>
        </p:nvSpPr>
        <p:spPr>
          <a:xfrm>
            <a:off x="403199" y="115200"/>
            <a:ext cx="10551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101" name="Google Shape;101;p23"/>
          <p:cNvSpPr txBox="1"/>
          <p:nvPr>
            <p:ph idx="12" type="sldNum"/>
          </p:nvPr>
        </p:nvSpPr>
        <p:spPr>
          <a:xfrm>
            <a:off x="11323907" y="6414447"/>
            <a:ext cx="731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4"/>
          <p:cNvSpPr txBox="1"/>
          <p:nvPr>
            <p:ph type="title"/>
          </p:nvPr>
        </p:nvSpPr>
        <p:spPr>
          <a:xfrm>
            <a:off x="415600" y="2236481"/>
            <a:ext cx="11360700" cy="20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4" name="Google Shape;104;p24"/>
          <p:cNvSpPr txBox="1"/>
          <p:nvPr>
            <p:ph idx="1" type="body"/>
          </p:nvPr>
        </p:nvSpPr>
        <p:spPr>
          <a:xfrm>
            <a:off x="415600" y="4490881"/>
            <a:ext cx="113607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6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4"/>
          <p:cNvSpPr txBox="1"/>
          <p:nvPr>
            <p:ph idx="12" type="sldNum"/>
          </p:nvPr>
        </p:nvSpPr>
        <p:spPr>
          <a:xfrm>
            <a:off x="11323907" y="6414447"/>
            <a:ext cx="731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108" name="Google Shape;108;p25"/>
          <p:cNvSpPr txBox="1"/>
          <p:nvPr>
            <p:ph idx="12" type="sldNum"/>
          </p:nvPr>
        </p:nvSpPr>
        <p:spPr>
          <a:xfrm>
            <a:off x="11323907" y="6414447"/>
            <a:ext cx="731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idx="12" type="sldNum"/>
          </p:nvPr>
        </p:nvSpPr>
        <p:spPr>
          <a:xfrm>
            <a:off x="11323907" y="6414447"/>
            <a:ext cx="731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853f375a1_63_0)">
  <p:cSld name="Generated (g3e853f375a1_63_0)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853f375a1_7_0)">
  <p:cSld name="Generated (g3e853f375a1_7_0)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03200" y="115200"/>
            <a:ext cx="113608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11" name="Google Shape;11;p1"/>
          <p:cNvSpPr/>
          <p:nvPr/>
        </p:nvSpPr>
        <p:spPr>
          <a:xfrm>
            <a:off x="0" y="6331389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rt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rt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rt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rt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rt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rt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rt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rt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403200" y="115200"/>
            <a:ext cx="113607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62" name="Google Shape;62;p14"/>
          <p:cNvSpPr/>
          <p:nvPr/>
        </p:nvSpPr>
        <p:spPr>
          <a:xfrm>
            <a:off x="0" y="6331389"/>
            <a:ext cx="12195000" cy="524700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11323907" y="6414447"/>
            <a:ext cx="7317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rt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rt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rt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rt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rt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rt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rt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rtl="0" algn="r">
              <a:buClr>
                <a:schemeClr val="lt1"/>
              </a:buClr>
              <a:buSzPts val="1333"/>
              <a:buFont typeface="Raleway"/>
              <a:buNone/>
              <a:defRPr b="0" i="0" sz="1333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Relationship Id="rId4" Type="http://schemas.openxmlformats.org/officeDocument/2006/relationships/image" Target="../media/image14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9"/>
          <p:cNvSpPr txBox="1"/>
          <p:nvPr/>
        </p:nvSpPr>
        <p:spPr>
          <a:xfrm>
            <a:off x="6300218" y="1347837"/>
            <a:ext cx="4741200" cy="50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667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Project Title</a:t>
            </a:r>
            <a:endParaRPr b="1" i="0" sz="2667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IN" sz="2667">
                <a:solidFill>
                  <a:srgbClr val="262626"/>
                </a:solidFill>
              </a:rPr>
              <a:t>AI-Based Code Explanation &amp; Documentation Generator</a:t>
            </a:r>
            <a:endParaRPr b="1" i="0" sz="2667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667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667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endParaRPr b="1" sz="2667">
              <a:solidFill>
                <a:srgbClr val="262626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667">
                <a:solidFill>
                  <a:srgbClr val="262626"/>
                </a:solidFill>
              </a:rPr>
              <a:t>Sushma Bhushan</a:t>
            </a:r>
            <a:endParaRPr b="1" sz="2667">
              <a:solidFill>
                <a:srgbClr val="262626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667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667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Date:</a:t>
            </a:r>
            <a:endParaRPr b="0" i="0" sz="1867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667">
                <a:solidFill>
                  <a:srgbClr val="262626"/>
                </a:solidFill>
              </a:rPr>
              <a:t>03-06-2026</a:t>
            </a:r>
            <a:endParaRPr b="0" i="0" sz="1867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0"/>
          <p:cNvSpPr/>
          <p:nvPr/>
        </p:nvSpPr>
        <p:spPr>
          <a:xfrm>
            <a:off x="0" y="0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0"/>
          <p:cNvSpPr txBox="1"/>
          <p:nvPr/>
        </p:nvSpPr>
        <p:spPr>
          <a:xfrm>
            <a:off x="571500" y="762000"/>
            <a:ext cx="1104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330">
                <a:solidFill>
                  <a:srgbClr val="262626"/>
                </a:solidFill>
                <a:latin typeface="Raleway"/>
                <a:ea typeface="Raleway"/>
                <a:cs typeface="Raleway"/>
                <a:sym typeface="Raleway"/>
              </a:rPr>
              <a:t>Problem Statement: </a:t>
            </a:r>
            <a:endParaRPr b="1" sz="3330">
              <a:solidFill>
                <a:srgbClr val="26262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29" name="Google Shape;129;p30"/>
          <p:cNvGrpSpPr/>
          <p:nvPr/>
        </p:nvGrpSpPr>
        <p:grpSpPr>
          <a:xfrm>
            <a:off x="571500" y="1905000"/>
            <a:ext cx="2476500" cy="2476500"/>
            <a:chOff x="0" y="0"/>
            <a:chExt cx="2476500" cy="2476500"/>
          </a:xfrm>
        </p:grpSpPr>
        <p:sp>
          <p:nvSpPr>
            <p:cNvPr id="130" name="Google Shape;130;p30"/>
            <p:cNvSpPr/>
            <p:nvPr/>
          </p:nvSpPr>
          <p:spPr>
            <a:xfrm>
              <a:off x="0" y="0"/>
              <a:ext cx="2476500" cy="2476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professional minimalist photo of a developer looking exhausted at a desk with many messy papers." id="131" name="Google Shape;131;p30"/>
            <p:cNvPicPr preferRelativeResize="0"/>
            <p:nvPr/>
          </p:nvPicPr>
          <p:blipFill rotWithShape="1">
            <a:blip r:embed="rId3">
              <a:alphaModFix/>
            </a:blip>
            <a:srcRect b="0" l="4296" r="4296" t="0"/>
            <a:stretch/>
          </p:blipFill>
          <p:spPr>
            <a:xfrm>
              <a:off x="0" y="0"/>
              <a:ext cx="2476500" cy="1524000"/>
            </a:xfrm>
            <a:prstGeom prst="roundRect">
              <a:avLst>
                <a:gd fmla="val 7500" name="adj"/>
              </a:avLst>
            </a:prstGeom>
            <a:noFill/>
            <a:ln>
              <a:noFill/>
            </a:ln>
          </p:spPr>
        </p:pic>
        <p:sp>
          <p:nvSpPr>
            <p:cNvPr id="132" name="Google Shape;132;p30"/>
            <p:cNvSpPr txBox="1"/>
            <p:nvPr/>
          </p:nvSpPr>
          <p:spPr>
            <a:xfrm>
              <a:off x="142875" y="1619250"/>
              <a:ext cx="2190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395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No Auto-Docs</a:t>
              </a:r>
              <a:endParaRPr b="1" sz="1395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IN" sz="1008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Developers spend hours writing READMEs and architecture docs manually.</a:t>
              </a:r>
              <a:endParaRPr b="0" sz="1008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" name="Google Shape;133;p30"/>
          <p:cNvGrpSpPr/>
          <p:nvPr/>
        </p:nvGrpSpPr>
        <p:grpSpPr>
          <a:xfrm>
            <a:off x="3429000" y="1905000"/>
            <a:ext cx="2476500" cy="2476500"/>
            <a:chOff x="0" y="0"/>
            <a:chExt cx="2476500" cy="2476500"/>
          </a:xfrm>
        </p:grpSpPr>
        <p:sp>
          <p:nvSpPr>
            <p:cNvPr id="134" name="Google Shape;134;p30"/>
            <p:cNvSpPr/>
            <p:nvPr/>
          </p:nvSpPr>
          <p:spPr>
            <a:xfrm>
              <a:off x="0" y="0"/>
              <a:ext cx="2476500" cy="2476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n abstract digital representation of fragmented focus or many windows open on a screen." id="135" name="Google Shape;135;p30"/>
            <p:cNvPicPr preferRelativeResize="0"/>
            <p:nvPr/>
          </p:nvPicPr>
          <p:blipFill rotWithShape="1">
            <a:blip r:embed="rId4">
              <a:alphaModFix/>
            </a:blip>
            <a:srcRect b="0" l="4296" r="4296" t="0"/>
            <a:stretch/>
          </p:blipFill>
          <p:spPr>
            <a:xfrm>
              <a:off x="0" y="0"/>
              <a:ext cx="2476500" cy="1524000"/>
            </a:xfrm>
            <a:prstGeom prst="roundRect">
              <a:avLst>
                <a:gd fmla="val 7500" name="adj"/>
              </a:avLst>
            </a:prstGeom>
            <a:noFill/>
            <a:ln>
              <a:noFill/>
            </a:ln>
          </p:spPr>
        </p:pic>
        <p:sp>
          <p:nvSpPr>
            <p:cNvPr id="136" name="Google Shape;136;p30"/>
            <p:cNvSpPr txBox="1"/>
            <p:nvPr/>
          </p:nvSpPr>
          <p:spPr>
            <a:xfrm>
              <a:off x="142875" y="1619250"/>
              <a:ext cx="2190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395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Context Switching</a:t>
              </a:r>
              <a:endParaRPr b="1" sz="1395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IN" sz="1008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Engineers lose productivity jumping between code and documentation tools.</a:t>
              </a:r>
              <a:endParaRPr b="0" sz="1008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" name="Google Shape;137;p30"/>
          <p:cNvGrpSpPr/>
          <p:nvPr/>
        </p:nvGrpSpPr>
        <p:grpSpPr>
          <a:xfrm>
            <a:off x="6286500" y="1905000"/>
            <a:ext cx="2476500" cy="2476500"/>
            <a:chOff x="0" y="0"/>
            <a:chExt cx="2476500" cy="2476500"/>
          </a:xfrm>
        </p:grpSpPr>
        <p:sp>
          <p:nvSpPr>
            <p:cNvPr id="138" name="Google Shape;138;p30"/>
            <p:cNvSpPr/>
            <p:nvPr/>
          </p:nvSpPr>
          <p:spPr>
            <a:xfrm>
              <a:off x="0" y="0"/>
              <a:ext cx="2476500" cy="2476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clean graphic showing disparate, mismatched puzzle pieces representing inconsistency." id="139" name="Google Shape;139;p30"/>
            <p:cNvPicPr preferRelativeResize="0"/>
            <p:nvPr/>
          </p:nvPicPr>
          <p:blipFill rotWithShape="1">
            <a:blip r:embed="rId5">
              <a:alphaModFix/>
            </a:blip>
            <a:srcRect b="0" l="4296" r="4296" t="0"/>
            <a:stretch/>
          </p:blipFill>
          <p:spPr>
            <a:xfrm>
              <a:off x="0" y="0"/>
              <a:ext cx="2476500" cy="1524000"/>
            </a:xfrm>
            <a:prstGeom prst="roundRect">
              <a:avLst>
                <a:gd fmla="val 7500" name="adj"/>
              </a:avLst>
            </a:prstGeom>
            <a:noFill/>
            <a:ln>
              <a:noFill/>
            </a:ln>
          </p:spPr>
        </p:pic>
        <p:sp>
          <p:nvSpPr>
            <p:cNvPr id="140" name="Google Shape;140;p30"/>
            <p:cNvSpPr txBox="1"/>
            <p:nvPr/>
          </p:nvSpPr>
          <p:spPr>
            <a:xfrm>
              <a:off x="142875" y="1619250"/>
              <a:ext cx="2190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395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Inconsistency</a:t>
              </a:r>
              <a:endParaRPr b="1" sz="1395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IN" sz="1008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Quality varies widely across teams, making onboarding slow and error-prone.</a:t>
              </a:r>
              <a:endParaRPr b="0" sz="1008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" name="Google Shape;141;p30"/>
          <p:cNvGrpSpPr/>
          <p:nvPr/>
        </p:nvGrpSpPr>
        <p:grpSpPr>
          <a:xfrm>
            <a:off x="9144000" y="1905000"/>
            <a:ext cx="2476500" cy="2476500"/>
            <a:chOff x="0" y="0"/>
            <a:chExt cx="2476500" cy="2476500"/>
          </a:xfrm>
        </p:grpSpPr>
        <p:sp>
          <p:nvSpPr>
            <p:cNvPr id="142" name="Google Shape;142;p30"/>
            <p:cNvSpPr/>
            <p:nvPr/>
          </p:nvSpPr>
          <p:spPr>
            <a:xfrm>
              <a:off x="0" y="0"/>
              <a:ext cx="2476500" cy="2476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high-tech stopwatch or clock showing time passing for delayed software releases." id="143" name="Google Shape;143;p30"/>
            <p:cNvPicPr preferRelativeResize="0"/>
            <p:nvPr/>
          </p:nvPicPr>
          <p:blipFill rotWithShape="1">
            <a:blip r:embed="rId6">
              <a:alphaModFix/>
            </a:blip>
            <a:srcRect b="0" l="4296" r="4296" t="0"/>
            <a:stretch/>
          </p:blipFill>
          <p:spPr>
            <a:xfrm>
              <a:off x="0" y="0"/>
              <a:ext cx="2476500" cy="1524000"/>
            </a:xfrm>
            <a:prstGeom prst="roundRect">
              <a:avLst>
                <a:gd fmla="val 7500" name="adj"/>
              </a:avLst>
            </a:prstGeom>
            <a:noFill/>
            <a:ln>
              <a:noFill/>
            </a:ln>
          </p:spPr>
        </p:pic>
        <p:sp>
          <p:nvSpPr>
            <p:cNvPr id="144" name="Google Shape;144;p30"/>
            <p:cNvSpPr txBox="1"/>
            <p:nvPr/>
          </p:nvSpPr>
          <p:spPr>
            <a:xfrm>
              <a:off x="142875" y="1619250"/>
              <a:ext cx="2190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395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Slow PR Reviews</a:t>
              </a:r>
              <a:endParaRPr b="1" sz="1395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IN" sz="1008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Undocumented code increases review time and delays releases significantly.</a:t>
              </a:r>
              <a:endParaRPr b="0" sz="1008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" name="Google Shape;145;p30"/>
          <p:cNvSpPr/>
          <p:nvPr/>
        </p:nvSpPr>
        <p:spPr>
          <a:xfrm>
            <a:off x="571500" y="4953000"/>
            <a:ext cx="11049000" cy="762000"/>
          </a:xfrm>
          <a:prstGeom prst="roundRect">
            <a:avLst>
              <a:gd fmla="val 12500" name="adj"/>
            </a:avLst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0"/>
          <p:cNvSpPr txBox="1"/>
          <p:nvPr/>
        </p:nvSpPr>
        <p:spPr>
          <a:xfrm>
            <a:off x="762000" y="49530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"The gap between writing code and documenting it costs teams thousands of hours annually."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0"/>
          <p:cNvSpPr/>
          <p:nvPr/>
        </p:nvSpPr>
        <p:spPr>
          <a:xfrm>
            <a:off x="0" y="6334125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1"/>
          <p:cNvSpPr/>
          <p:nvPr/>
        </p:nvSpPr>
        <p:spPr>
          <a:xfrm>
            <a:off x="0" y="0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1"/>
          <p:cNvSpPr txBox="1"/>
          <p:nvPr/>
        </p:nvSpPr>
        <p:spPr>
          <a:xfrm>
            <a:off x="571500" y="714375"/>
            <a:ext cx="11049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800">
                <a:solidFill>
                  <a:srgbClr val="1A4D4E"/>
                </a:solidFill>
                <a:latin typeface="Raleway"/>
                <a:ea typeface="Raleway"/>
                <a:cs typeface="Raleway"/>
                <a:sym typeface="Raleway"/>
              </a:rPr>
              <a:t>Project Overview: What is it?</a:t>
            </a:r>
            <a:endParaRPr b="1" i="0" sz="3800">
              <a:solidFill>
                <a:srgbClr val="1A4D4E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59" name="Google Shape;159;p31"/>
          <p:cNvGrpSpPr/>
          <p:nvPr/>
        </p:nvGrpSpPr>
        <p:grpSpPr>
          <a:xfrm>
            <a:off x="571500" y="1714500"/>
            <a:ext cx="5334000" cy="4000500"/>
            <a:chOff x="571500" y="1714500"/>
            <a:chExt cx="5334000" cy="4000500"/>
          </a:xfrm>
        </p:grpSpPr>
        <p:sp>
          <p:nvSpPr>
            <p:cNvPr id="160" name="Google Shape;160;p31"/>
            <p:cNvSpPr/>
            <p:nvPr/>
          </p:nvSpPr>
          <p:spPr>
            <a:xfrm>
              <a:off x="571500" y="1714500"/>
              <a:ext cx="5334000" cy="4000500"/>
            </a:xfrm>
            <a:prstGeom prst="roundRect">
              <a:avLst>
                <a:gd fmla="val 3571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1"/>
            <p:cNvSpPr/>
            <p:nvPr/>
          </p:nvSpPr>
          <p:spPr>
            <a:xfrm>
              <a:off x="571500" y="1714500"/>
              <a:ext cx="95400" cy="40005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31"/>
            <p:cNvSpPr txBox="1"/>
            <p:nvPr/>
          </p:nvSpPr>
          <p:spPr>
            <a:xfrm>
              <a:off x="857250" y="1905000"/>
              <a:ext cx="48579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0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Definition</a:t>
              </a:r>
              <a:endParaRPr b="1" sz="20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1" lang="en-IN" sz="15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•</a:t>
              </a:r>
              <a:r>
                <a:rPr b="0" lang="en-IN" sz="15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Automated pipeline pulling from </a:t>
              </a:r>
              <a:r>
                <a:rPr lang="en-IN" sz="15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Trigger</a:t>
              </a:r>
              <a:endParaRPr sz="15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IN" sz="15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•</a:t>
              </a:r>
              <a:r>
                <a:rPr b="0" lang="en-IN" sz="15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Performs static analysis &amp; LLM prompting</a:t>
              </a:r>
              <a:endParaRPr b="0" sz="15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IN" sz="15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•</a:t>
              </a:r>
              <a:r>
                <a:rPr b="0" lang="en-IN" sz="15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Generates explanations, READMEs, &amp; API docs</a:t>
              </a:r>
              <a:endParaRPr b="0" sz="15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IN" sz="15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•</a:t>
              </a:r>
              <a:r>
                <a:rPr b="0" lang="en-IN" sz="15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Creates inline comments &amp; architecture summaries</a:t>
              </a:r>
              <a:endParaRPr b="0" sz="15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IN" sz="15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•</a:t>
              </a:r>
              <a:r>
                <a:rPr b="0" lang="en-IN" sz="15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Suggests tests and improvement notes</a:t>
              </a:r>
              <a:endParaRPr b="0" sz="15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63" name="Google Shape;163;p31"/>
          <p:cNvGrpSpPr/>
          <p:nvPr/>
        </p:nvGrpSpPr>
        <p:grpSpPr>
          <a:xfrm>
            <a:off x="6286500" y="1714500"/>
            <a:ext cx="5334000" cy="4000500"/>
            <a:chOff x="6286500" y="1714500"/>
            <a:chExt cx="5334000" cy="4000500"/>
          </a:xfrm>
        </p:grpSpPr>
        <p:sp>
          <p:nvSpPr>
            <p:cNvPr id="164" name="Google Shape;164;p31"/>
            <p:cNvSpPr/>
            <p:nvPr/>
          </p:nvSpPr>
          <p:spPr>
            <a:xfrm>
              <a:off x="6286500" y="1714500"/>
              <a:ext cx="5334000" cy="4000500"/>
            </a:xfrm>
            <a:prstGeom prst="roundRect">
              <a:avLst>
                <a:gd fmla="val 3571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31"/>
            <p:cNvSpPr/>
            <p:nvPr/>
          </p:nvSpPr>
          <p:spPr>
            <a:xfrm>
              <a:off x="6286500" y="1714500"/>
              <a:ext cx="95400" cy="40005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31"/>
            <p:cNvSpPr txBox="1"/>
            <p:nvPr/>
          </p:nvSpPr>
          <p:spPr>
            <a:xfrm>
              <a:off x="6572250" y="1905000"/>
              <a:ext cx="48579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0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Key Facts</a:t>
              </a:r>
              <a:endParaRPr b="1" sz="20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1" lang="en-IN" sz="14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Trigger: </a:t>
              </a:r>
              <a:r>
                <a:rPr lang="en-IN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Manual trigger</a:t>
              </a:r>
              <a:endParaRPr b="1" sz="14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IN" sz="14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AI Engine: </a:t>
              </a:r>
              <a:r>
                <a:rPr lang="en-IN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Gemini </a:t>
              </a:r>
              <a:r>
                <a:rPr b="0" lang="en-IN" sz="14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AI LLM - GPT models</a:t>
              </a:r>
              <a:endParaRPr b="1" sz="14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IN" sz="14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Workflow: </a:t>
              </a:r>
              <a:r>
                <a:rPr b="0" lang="en-IN" sz="14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n8n No-Code Pipeline</a:t>
              </a:r>
              <a:endParaRPr b="1" sz="14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IN" sz="14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Output: </a:t>
              </a:r>
              <a:r>
                <a:rPr lang="en-IN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documentation</a:t>
              </a:r>
              <a:endParaRPr b="1" sz="14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IN" sz="14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Notify: </a:t>
              </a:r>
              <a:r>
                <a:rPr b="0" lang="en-IN" sz="14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Email summary</a:t>
              </a:r>
              <a:endParaRPr b="1" sz="14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pic>
          <p:nvPicPr>
            <p:cNvPr descr="A professional minimalist digital neural network blueprint icon in teal, very subtle." id="167" name="Google Shape;167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96250" y="4191000"/>
              <a:ext cx="2857500" cy="1428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8" name="Google Shape;168;p31"/>
          <p:cNvSpPr/>
          <p:nvPr/>
        </p:nvSpPr>
        <p:spPr>
          <a:xfrm>
            <a:off x="0" y="6334125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2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2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2"/>
          <p:cNvSpPr txBox="1"/>
          <p:nvPr/>
        </p:nvSpPr>
        <p:spPr>
          <a:xfrm>
            <a:off x="571500" y="714375"/>
            <a:ext cx="11049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600">
                <a:solidFill>
                  <a:srgbClr val="1A4D4E"/>
                </a:solidFill>
                <a:latin typeface="Raleway"/>
                <a:ea typeface="Raleway"/>
                <a:cs typeface="Raleway"/>
                <a:sym typeface="Raleway"/>
              </a:rPr>
              <a:t>Automated AI Documentation Pipeline</a:t>
            </a:r>
            <a:endParaRPr b="1" sz="3600">
              <a:solidFill>
                <a:srgbClr val="1A4D4E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81" name="Google Shape;181;p32"/>
          <p:cNvGrpSpPr/>
          <p:nvPr/>
        </p:nvGrpSpPr>
        <p:grpSpPr>
          <a:xfrm>
            <a:off x="1628775" y="2276475"/>
            <a:ext cx="7515300" cy="2352825"/>
            <a:chOff x="1628775" y="2276475"/>
            <a:chExt cx="7515300" cy="2352825"/>
          </a:xfrm>
        </p:grpSpPr>
        <p:pic>
          <p:nvPicPr>
            <p:cNvPr id="182" name="Google Shape;182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14625" y="2276475"/>
              <a:ext cx="4287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86375" y="2276475"/>
              <a:ext cx="4287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58125" y="2276475"/>
              <a:ext cx="4287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3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28775" y="3800475"/>
              <a:ext cx="7515300" cy="438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14625" y="4610100"/>
              <a:ext cx="4287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86375" y="4610100"/>
              <a:ext cx="428700" cy="19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8" name="Google Shape;188;p32"/>
          <p:cNvGrpSpPr/>
          <p:nvPr/>
        </p:nvGrpSpPr>
        <p:grpSpPr>
          <a:xfrm>
            <a:off x="571500" y="1666875"/>
            <a:ext cx="2143200" cy="1238400"/>
            <a:chOff x="0" y="-238125"/>
            <a:chExt cx="2143200" cy="1238400"/>
          </a:xfrm>
        </p:grpSpPr>
        <p:sp>
          <p:nvSpPr>
            <p:cNvPr id="189" name="Google Shape;189;p32"/>
            <p:cNvSpPr/>
            <p:nvPr/>
          </p:nvSpPr>
          <p:spPr>
            <a:xfrm>
              <a:off x="0" y="-238125"/>
              <a:ext cx="2143200" cy="1238400"/>
            </a:xfrm>
            <a:prstGeom prst="roundRect">
              <a:avLst>
                <a:gd fmla="val 7692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32"/>
            <p:cNvSpPr/>
            <p:nvPr/>
          </p:nvSpPr>
          <p:spPr>
            <a:xfrm>
              <a:off x="0" y="-238125"/>
              <a:ext cx="57300" cy="12384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32"/>
            <p:cNvSpPr txBox="1"/>
            <p:nvPr/>
          </p:nvSpPr>
          <p:spPr>
            <a:xfrm>
              <a:off x="190500" y="-95250"/>
              <a:ext cx="18096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01</a:t>
              </a:r>
              <a:endParaRPr b="1" sz="16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3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Trigger</a:t>
              </a:r>
              <a:endParaRPr sz="10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0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Execute</a:t>
              </a:r>
              <a:r>
                <a:rPr lang="en-IN" sz="10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 workflow button</a:t>
              </a:r>
              <a:endParaRPr sz="10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92" name="Google Shape;192;p32"/>
          <p:cNvGrpSpPr/>
          <p:nvPr/>
        </p:nvGrpSpPr>
        <p:grpSpPr>
          <a:xfrm>
            <a:off x="3143250" y="1666875"/>
            <a:ext cx="2143200" cy="1238400"/>
            <a:chOff x="0" y="-238125"/>
            <a:chExt cx="2143200" cy="1238400"/>
          </a:xfrm>
        </p:grpSpPr>
        <p:sp>
          <p:nvSpPr>
            <p:cNvPr id="193" name="Google Shape;193;p32"/>
            <p:cNvSpPr/>
            <p:nvPr/>
          </p:nvSpPr>
          <p:spPr>
            <a:xfrm>
              <a:off x="0" y="-238125"/>
              <a:ext cx="2143200" cy="1238400"/>
            </a:xfrm>
            <a:prstGeom prst="roundRect">
              <a:avLst>
                <a:gd fmla="val 7692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32"/>
            <p:cNvSpPr/>
            <p:nvPr/>
          </p:nvSpPr>
          <p:spPr>
            <a:xfrm>
              <a:off x="0" y="-238125"/>
              <a:ext cx="57300" cy="12384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32"/>
            <p:cNvSpPr txBox="1"/>
            <p:nvPr/>
          </p:nvSpPr>
          <p:spPr>
            <a:xfrm>
              <a:off x="190500" y="-95250"/>
              <a:ext cx="18096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02</a:t>
              </a:r>
              <a:endParaRPr b="1" sz="16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3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Fetch</a:t>
              </a:r>
              <a:endParaRPr b="1" sz="13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IN" sz="10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GitHub / HTTP Node downloads repository files</a:t>
              </a:r>
              <a:endParaRPr b="0" sz="10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96" name="Google Shape;196;p32"/>
          <p:cNvGrpSpPr/>
          <p:nvPr/>
        </p:nvGrpSpPr>
        <p:grpSpPr>
          <a:xfrm>
            <a:off x="5715000" y="1666875"/>
            <a:ext cx="2143200" cy="1238400"/>
            <a:chOff x="0" y="-238125"/>
            <a:chExt cx="2143200" cy="1238400"/>
          </a:xfrm>
        </p:grpSpPr>
        <p:sp>
          <p:nvSpPr>
            <p:cNvPr id="197" name="Google Shape;197;p32"/>
            <p:cNvSpPr/>
            <p:nvPr/>
          </p:nvSpPr>
          <p:spPr>
            <a:xfrm>
              <a:off x="0" y="-238125"/>
              <a:ext cx="2143200" cy="1238400"/>
            </a:xfrm>
            <a:prstGeom prst="roundRect">
              <a:avLst>
                <a:gd fmla="val 7692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32"/>
            <p:cNvSpPr/>
            <p:nvPr/>
          </p:nvSpPr>
          <p:spPr>
            <a:xfrm>
              <a:off x="0" y="-238125"/>
              <a:ext cx="57300" cy="12384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32"/>
            <p:cNvSpPr txBox="1"/>
            <p:nvPr/>
          </p:nvSpPr>
          <p:spPr>
            <a:xfrm>
              <a:off x="190500" y="-95250"/>
              <a:ext cx="18096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03</a:t>
              </a:r>
              <a:endParaRPr b="1" sz="16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3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Parse</a:t>
              </a:r>
              <a:endParaRPr b="1" sz="13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IN" sz="10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Function / Code Parser identifies code files</a:t>
              </a:r>
              <a:endParaRPr b="0" sz="10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00" name="Google Shape;200;p32"/>
          <p:cNvGrpSpPr/>
          <p:nvPr/>
        </p:nvGrpSpPr>
        <p:grpSpPr>
          <a:xfrm>
            <a:off x="8286750" y="1666875"/>
            <a:ext cx="2143200" cy="1238400"/>
            <a:chOff x="0" y="-238125"/>
            <a:chExt cx="2143200" cy="1238400"/>
          </a:xfrm>
        </p:grpSpPr>
        <p:sp>
          <p:nvSpPr>
            <p:cNvPr id="201" name="Google Shape;201;p32"/>
            <p:cNvSpPr/>
            <p:nvPr/>
          </p:nvSpPr>
          <p:spPr>
            <a:xfrm>
              <a:off x="0" y="-238125"/>
              <a:ext cx="2143200" cy="1238400"/>
            </a:xfrm>
            <a:prstGeom prst="roundRect">
              <a:avLst>
                <a:gd fmla="val 7692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32"/>
            <p:cNvSpPr/>
            <p:nvPr/>
          </p:nvSpPr>
          <p:spPr>
            <a:xfrm>
              <a:off x="0" y="-238125"/>
              <a:ext cx="57300" cy="12384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32"/>
            <p:cNvSpPr txBox="1"/>
            <p:nvPr/>
          </p:nvSpPr>
          <p:spPr>
            <a:xfrm>
              <a:off x="190500" y="-95250"/>
              <a:ext cx="18096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04</a:t>
              </a:r>
              <a:endParaRPr b="1" sz="16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3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LLM Generate</a:t>
              </a:r>
              <a:endParaRPr b="1" sz="13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IN" sz="10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Gemini</a:t>
              </a:r>
              <a:r>
                <a:rPr b="0" lang="en-IN" sz="10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AI Node generates README &amp; comments</a:t>
              </a:r>
              <a:endParaRPr b="0" sz="10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04" name="Google Shape;204;p32"/>
          <p:cNvGrpSpPr/>
          <p:nvPr/>
        </p:nvGrpSpPr>
        <p:grpSpPr>
          <a:xfrm>
            <a:off x="571500" y="4000500"/>
            <a:ext cx="2143200" cy="1238400"/>
            <a:chOff x="0" y="-238125"/>
            <a:chExt cx="2143200" cy="1238400"/>
          </a:xfrm>
        </p:grpSpPr>
        <p:sp>
          <p:nvSpPr>
            <p:cNvPr id="205" name="Google Shape;205;p32"/>
            <p:cNvSpPr/>
            <p:nvPr/>
          </p:nvSpPr>
          <p:spPr>
            <a:xfrm>
              <a:off x="0" y="-238125"/>
              <a:ext cx="2143200" cy="1238400"/>
            </a:xfrm>
            <a:prstGeom prst="roundRect">
              <a:avLst>
                <a:gd fmla="val 7692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32"/>
            <p:cNvSpPr/>
            <p:nvPr/>
          </p:nvSpPr>
          <p:spPr>
            <a:xfrm>
              <a:off x="0" y="-238125"/>
              <a:ext cx="57300" cy="12384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32"/>
            <p:cNvSpPr txBox="1"/>
            <p:nvPr/>
          </p:nvSpPr>
          <p:spPr>
            <a:xfrm>
              <a:off x="190500" y="-95250"/>
              <a:ext cx="18096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05</a:t>
              </a:r>
              <a:endParaRPr b="1" sz="16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3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Post-process</a:t>
              </a:r>
              <a:endParaRPr b="1" sz="13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IN" sz="10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Function node formats markdown &amp; metadata</a:t>
              </a:r>
              <a:endParaRPr b="0" sz="10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08" name="Google Shape;208;p32"/>
          <p:cNvGrpSpPr/>
          <p:nvPr/>
        </p:nvGrpSpPr>
        <p:grpSpPr>
          <a:xfrm>
            <a:off x="3143250" y="4000500"/>
            <a:ext cx="2143200" cy="1238400"/>
            <a:chOff x="0" y="-238125"/>
            <a:chExt cx="2143200" cy="1238400"/>
          </a:xfrm>
        </p:grpSpPr>
        <p:sp>
          <p:nvSpPr>
            <p:cNvPr id="209" name="Google Shape;209;p32"/>
            <p:cNvSpPr/>
            <p:nvPr/>
          </p:nvSpPr>
          <p:spPr>
            <a:xfrm>
              <a:off x="0" y="-238125"/>
              <a:ext cx="2143200" cy="1238400"/>
            </a:xfrm>
            <a:prstGeom prst="roundRect">
              <a:avLst>
                <a:gd fmla="val 7692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32"/>
            <p:cNvSpPr/>
            <p:nvPr/>
          </p:nvSpPr>
          <p:spPr>
            <a:xfrm>
              <a:off x="0" y="-238125"/>
              <a:ext cx="57300" cy="12384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32"/>
            <p:cNvSpPr txBox="1"/>
            <p:nvPr/>
          </p:nvSpPr>
          <p:spPr>
            <a:xfrm>
              <a:off x="190500" y="-95250"/>
              <a:ext cx="18096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06</a:t>
              </a:r>
              <a:endParaRPr b="1" sz="16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3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Commit</a:t>
              </a:r>
              <a:endParaRPr b="1" sz="13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IN" sz="10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Google Drive node saves outputs</a:t>
              </a:r>
              <a:endParaRPr b="0" sz="10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12" name="Google Shape;212;p32"/>
          <p:cNvGrpSpPr/>
          <p:nvPr/>
        </p:nvGrpSpPr>
        <p:grpSpPr>
          <a:xfrm>
            <a:off x="5715000" y="4000500"/>
            <a:ext cx="2143200" cy="1238400"/>
            <a:chOff x="0" y="-238125"/>
            <a:chExt cx="2143200" cy="1238400"/>
          </a:xfrm>
        </p:grpSpPr>
        <p:sp>
          <p:nvSpPr>
            <p:cNvPr id="213" name="Google Shape;213;p32"/>
            <p:cNvSpPr/>
            <p:nvPr/>
          </p:nvSpPr>
          <p:spPr>
            <a:xfrm>
              <a:off x="0" y="-238125"/>
              <a:ext cx="2143200" cy="1238400"/>
            </a:xfrm>
            <a:prstGeom prst="roundRect">
              <a:avLst>
                <a:gd fmla="val 7692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32"/>
            <p:cNvSpPr/>
            <p:nvPr/>
          </p:nvSpPr>
          <p:spPr>
            <a:xfrm>
              <a:off x="0" y="-238125"/>
              <a:ext cx="57300" cy="12384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32"/>
            <p:cNvSpPr txBox="1"/>
            <p:nvPr/>
          </p:nvSpPr>
          <p:spPr>
            <a:xfrm>
              <a:off x="190500" y="-95250"/>
              <a:ext cx="18096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07</a:t>
              </a:r>
              <a:endParaRPr b="1" sz="16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3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Notify</a:t>
              </a:r>
              <a:endParaRPr b="1" sz="13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IN" sz="10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 Email node sends summary link</a:t>
              </a:r>
              <a:endParaRPr b="0" sz="10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16" name="Google Shape;216;p32"/>
          <p:cNvGrpSpPr/>
          <p:nvPr/>
        </p:nvGrpSpPr>
        <p:grpSpPr>
          <a:xfrm>
            <a:off x="8567738" y="3995738"/>
            <a:ext cx="2862263" cy="1909763"/>
            <a:chOff x="8567738" y="3995738"/>
            <a:chExt cx="2862263" cy="1909763"/>
          </a:xfrm>
        </p:grpSpPr>
        <p:pic>
          <p:nvPicPr>
            <p:cNvPr id="217" name="Google Shape;217;p32"/>
            <p:cNvPicPr preferRelativeResize="0"/>
            <p:nvPr/>
          </p:nvPicPr>
          <p:blipFill rotWithShape="1">
            <a:blip r:embed="rId6">
              <a:alphaModFix/>
            </a:blip>
            <a:srcRect b="0" l="12503" r="12495" t="0"/>
            <a:stretch/>
          </p:blipFill>
          <p:spPr>
            <a:xfrm>
              <a:off x="8572500" y="4000500"/>
              <a:ext cx="2857500" cy="1905000"/>
            </a:xfrm>
            <a:prstGeom prst="roundRect">
              <a:avLst>
                <a:gd fmla="val 10000" name="adj"/>
              </a:avLst>
            </a:prstGeom>
            <a:noFill/>
            <a:ln>
              <a:noFill/>
            </a:ln>
          </p:spPr>
        </p:pic>
        <p:pic>
          <p:nvPicPr>
            <p:cNvPr id="218" name="Google Shape;218;p3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567738" y="3995738"/>
              <a:ext cx="576300" cy="1147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3"/>
          <p:cNvSpPr/>
          <p:nvPr/>
        </p:nvSpPr>
        <p:spPr>
          <a:xfrm>
            <a:off x="0" y="0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3"/>
          <p:cNvSpPr/>
          <p:nvPr/>
        </p:nvSpPr>
        <p:spPr>
          <a:xfrm>
            <a:off x="0" y="6334125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3"/>
          <p:cNvSpPr txBox="1"/>
          <p:nvPr/>
        </p:nvSpPr>
        <p:spPr>
          <a:xfrm>
            <a:off x="571500" y="714375"/>
            <a:ext cx="1104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800">
                <a:solidFill>
                  <a:srgbClr val="1A4D4E"/>
                </a:solidFill>
                <a:latin typeface="Raleway"/>
                <a:ea typeface="Raleway"/>
                <a:cs typeface="Raleway"/>
                <a:sym typeface="Raleway"/>
              </a:rPr>
              <a:t>Tools, APIs &amp; n8n Nodes Used</a:t>
            </a:r>
            <a:endParaRPr b="1" sz="3800">
              <a:solidFill>
                <a:srgbClr val="1A4D4E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31" name="Google Shape;231;p33"/>
          <p:cNvGrpSpPr/>
          <p:nvPr/>
        </p:nvGrpSpPr>
        <p:grpSpPr>
          <a:xfrm>
            <a:off x="571500" y="1714500"/>
            <a:ext cx="5334000" cy="4381500"/>
            <a:chOff x="0" y="0"/>
            <a:chExt cx="5334000" cy="4381500"/>
          </a:xfrm>
        </p:grpSpPr>
        <p:sp>
          <p:nvSpPr>
            <p:cNvPr id="232" name="Google Shape;232;p33"/>
            <p:cNvSpPr/>
            <p:nvPr/>
          </p:nvSpPr>
          <p:spPr>
            <a:xfrm>
              <a:off x="0" y="0"/>
              <a:ext cx="5334000" cy="4381500"/>
            </a:xfrm>
            <a:prstGeom prst="roundRect">
              <a:avLst>
                <a:gd fmla="val 326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33"/>
            <p:cNvSpPr/>
            <p:nvPr/>
          </p:nvSpPr>
          <p:spPr>
            <a:xfrm>
              <a:off x="0" y="0"/>
              <a:ext cx="95400" cy="43815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3"/>
            <p:cNvSpPr txBox="1"/>
            <p:nvPr/>
          </p:nvSpPr>
          <p:spPr>
            <a:xfrm>
              <a:off x="285750" y="190500"/>
              <a:ext cx="4857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2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🔧 n8n Nodes</a:t>
              </a:r>
              <a:endParaRPr b="1" sz="22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35" name="Google Shape;235;p33"/>
            <p:cNvSpPr txBox="1"/>
            <p:nvPr/>
          </p:nvSpPr>
          <p:spPr>
            <a:xfrm>
              <a:off x="333375" y="762000"/>
              <a:ext cx="47625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17500" lvl="0" marL="457200" rtl="0" algn="l">
                <a:spcBef>
                  <a:spcPts val="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-IN" sz="16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Manual Trigger</a:t>
              </a:r>
              <a:endParaRPr b="0" sz="16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-IN" sz="16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Edit Fields</a:t>
              </a:r>
              <a:endParaRPr b="0" sz="16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-IN" sz="16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Code in JavaScript</a:t>
              </a:r>
              <a:endParaRPr b="0" sz="16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-IN" sz="16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GitHub</a:t>
              </a:r>
              <a:r>
                <a:rPr b="0" lang="en-IN" sz="16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 (List Files, Get File)</a:t>
              </a:r>
              <a:endParaRPr b="0" sz="16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-IN" sz="16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Extract from File</a:t>
              </a:r>
              <a:endParaRPr b="0" sz="16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-IN" sz="16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AI Agent</a:t>
              </a:r>
              <a:endParaRPr b="0" sz="16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-IN" sz="16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Basic LLM Chain</a:t>
              </a:r>
              <a:endParaRPr b="0" sz="16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-IN" sz="16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Google Drive</a:t>
              </a:r>
              <a:r>
                <a:rPr b="0" lang="en-IN" sz="16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 (Upload)</a:t>
              </a:r>
              <a:endParaRPr b="0" sz="16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-IN" sz="16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Gmail</a:t>
              </a:r>
              <a:endParaRPr b="0" sz="16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36" name="Google Shape;236;p33"/>
          <p:cNvGrpSpPr/>
          <p:nvPr/>
        </p:nvGrpSpPr>
        <p:grpSpPr>
          <a:xfrm>
            <a:off x="6286500" y="1714500"/>
            <a:ext cx="5334000" cy="4381500"/>
            <a:chOff x="0" y="0"/>
            <a:chExt cx="5334000" cy="4381500"/>
          </a:xfrm>
        </p:grpSpPr>
        <p:sp>
          <p:nvSpPr>
            <p:cNvPr id="237" name="Google Shape;237;p33"/>
            <p:cNvSpPr/>
            <p:nvPr/>
          </p:nvSpPr>
          <p:spPr>
            <a:xfrm>
              <a:off x="0" y="0"/>
              <a:ext cx="5334000" cy="4381500"/>
            </a:xfrm>
            <a:prstGeom prst="roundRect">
              <a:avLst>
                <a:gd fmla="val 326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33"/>
            <p:cNvSpPr/>
            <p:nvPr/>
          </p:nvSpPr>
          <p:spPr>
            <a:xfrm>
              <a:off x="0" y="0"/>
              <a:ext cx="95400" cy="43815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33"/>
            <p:cNvSpPr txBox="1"/>
            <p:nvPr/>
          </p:nvSpPr>
          <p:spPr>
            <a:xfrm>
              <a:off x="285750" y="190500"/>
              <a:ext cx="4857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2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🌐 Tools &amp; APIs</a:t>
              </a:r>
              <a:endParaRPr b="1" sz="22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40" name="Google Shape;240;p33"/>
            <p:cNvSpPr txBox="1"/>
            <p:nvPr/>
          </p:nvSpPr>
          <p:spPr>
            <a:xfrm>
              <a:off x="333375" y="762000"/>
              <a:ext cx="47625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17500" lvl="0" marL="457200" rtl="0" algn="l">
                <a:spcBef>
                  <a:spcPts val="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-IN" sz="16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AI:</a:t>
              </a:r>
              <a:r>
                <a:rPr b="0" lang="en-IN" sz="16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 Google Gemini API</a:t>
              </a:r>
              <a:endParaRPr b="0" sz="16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317500" lvl="0" marL="457200" rtl="0" algn="l">
                <a:spcBef>
                  <a:spcPts val="1125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-IN" sz="16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Source:</a:t>
              </a:r>
              <a:r>
                <a:rPr b="0" lang="en-IN" sz="16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 GitHub API</a:t>
              </a:r>
              <a:endParaRPr b="0" sz="16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317500" lvl="0" marL="457200" rtl="0" algn="l">
                <a:spcBef>
                  <a:spcPts val="1125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-IN" sz="16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Storage:</a:t>
              </a:r>
              <a:r>
                <a:rPr b="0" lang="en-IN" sz="16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 Google Drive</a:t>
              </a:r>
              <a:endParaRPr b="0" sz="16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317500" lvl="0" marL="457200" rtl="0" algn="l">
                <a:spcBef>
                  <a:spcPts val="1125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-IN" sz="16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Notify:</a:t>
              </a:r>
              <a:r>
                <a:rPr b="0" lang="en-IN" sz="16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 Gmail</a:t>
              </a:r>
              <a:endParaRPr b="0" sz="16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4"/>
          <p:cNvSpPr/>
          <p:nvPr/>
        </p:nvSpPr>
        <p:spPr>
          <a:xfrm>
            <a:off x="0" y="0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4"/>
          <p:cNvSpPr/>
          <p:nvPr/>
        </p:nvSpPr>
        <p:spPr>
          <a:xfrm>
            <a:off x="0" y="6334125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4"/>
          <p:cNvSpPr txBox="1"/>
          <p:nvPr/>
        </p:nvSpPr>
        <p:spPr>
          <a:xfrm>
            <a:off x="571500" y="714375"/>
            <a:ext cx="1104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800">
                <a:solidFill>
                  <a:srgbClr val="1A4D4E"/>
                </a:solidFill>
                <a:latin typeface="Raleway"/>
                <a:ea typeface="Raleway"/>
                <a:cs typeface="Raleway"/>
                <a:sym typeface="Raleway"/>
              </a:rPr>
              <a:t>Sample Input &amp; Output</a:t>
            </a:r>
            <a:endParaRPr b="1" sz="3800">
              <a:solidFill>
                <a:srgbClr val="1A4D4E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53" name="Google Shape;253;p34"/>
          <p:cNvGrpSpPr/>
          <p:nvPr/>
        </p:nvGrpSpPr>
        <p:grpSpPr>
          <a:xfrm>
            <a:off x="571500" y="1714500"/>
            <a:ext cx="5334000" cy="4381500"/>
            <a:chOff x="571500" y="1714500"/>
            <a:chExt cx="5334000" cy="4381500"/>
          </a:xfrm>
        </p:grpSpPr>
        <p:sp>
          <p:nvSpPr>
            <p:cNvPr id="254" name="Google Shape;254;p34"/>
            <p:cNvSpPr/>
            <p:nvPr/>
          </p:nvSpPr>
          <p:spPr>
            <a:xfrm>
              <a:off x="571500" y="1714500"/>
              <a:ext cx="5334000" cy="4381500"/>
            </a:xfrm>
            <a:prstGeom prst="roundRect">
              <a:avLst>
                <a:gd fmla="val 326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4"/>
            <p:cNvSpPr/>
            <p:nvPr/>
          </p:nvSpPr>
          <p:spPr>
            <a:xfrm>
              <a:off x="571500" y="1714500"/>
              <a:ext cx="95400" cy="43815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4"/>
            <p:cNvSpPr txBox="1"/>
            <p:nvPr/>
          </p:nvSpPr>
          <p:spPr>
            <a:xfrm>
              <a:off x="857250" y="1905000"/>
              <a:ext cx="4857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2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📥 Sample Input</a:t>
              </a:r>
              <a:endParaRPr b="1" sz="22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57" name="Google Shape;257;p34"/>
            <p:cNvSpPr/>
            <p:nvPr/>
          </p:nvSpPr>
          <p:spPr>
            <a:xfrm>
              <a:off x="857250" y="2476500"/>
              <a:ext cx="4762500" cy="2286000"/>
            </a:xfrm>
            <a:prstGeom prst="roundRect">
              <a:avLst>
                <a:gd fmla="val 3333" name="adj"/>
              </a:avLst>
            </a:prstGeom>
            <a:solidFill>
              <a:srgbClr val="1C212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34"/>
            <p:cNvSpPr txBox="1"/>
            <p:nvPr/>
          </p:nvSpPr>
          <p:spPr>
            <a:xfrm>
              <a:off x="1047750" y="2667000"/>
              <a:ext cx="4381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IN" sz="1200">
                  <a:solidFill>
                    <a:srgbClr val="79C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Webhook Payload</a:t>
              </a:r>
              <a:endParaRPr b="0" sz="1200">
                <a:solidFill>
                  <a:srgbClr val="79C0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IN" sz="1200">
                  <a:solidFill>
                    <a:srgbClr val="ADBAC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Repo URL: </a:t>
              </a:r>
              <a:r>
                <a:rPr b="0" lang="en-IN" sz="1200" u="sng">
                  <a:solidFill>
                    <a:srgbClr val="58A6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https://github.com/username/repo-name</a:t>
              </a:r>
              <a:endParaRPr b="0" sz="1200">
                <a:solidFill>
                  <a:srgbClr val="ADBAC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59" name="Google Shape;259;p34"/>
            <p:cNvSpPr txBox="1"/>
            <p:nvPr/>
          </p:nvSpPr>
          <p:spPr>
            <a:xfrm>
              <a:off x="857250" y="4953000"/>
              <a:ext cx="476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IN" sz="1100">
                  <a:solidFill>
                    <a:srgbClr val="7F8C8D"/>
                  </a:solidFill>
                  <a:latin typeface="Raleway"/>
                  <a:ea typeface="Raleway"/>
                  <a:cs typeface="Raleway"/>
                  <a:sym typeface="Raleway"/>
                </a:rPr>
                <a:t>Triggers whenever a developer pushes code or opens a Pull Request on the monitored repository.</a:t>
              </a:r>
              <a:endParaRPr b="0" i="1" sz="1100">
                <a:solidFill>
                  <a:srgbClr val="7F8C8D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60" name="Google Shape;260;p34"/>
          <p:cNvGrpSpPr/>
          <p:nvPr/>
        </p:nvGrpSpPr>
        <p:grpSpPr>
          <a:xfrm>
            <a:off x="6286500" y="1714500"/>
            <a:ext cx="5334000" cy="4381500"/>
            <a:chOff x="6286500" y="1714500"/>
            <a:chExt cx="5334000" cy="4381500"/>
          </a:xfrm>
        </p:grpSpPr>
        <p:sp>
          <p:nvSpPr>
            <p:cNvPr id="261" name="Google Shape;261;p34"/>
            <p:cNvSpPr/>
            <p:nvPr/>
          </p:nvSpPr>
          <p:spPr>
            <a:xfrm>
              <a:off x="6286500" y="1714500"/>
              <a:ext cx="5334000" cy="4381500"/>
            </a:xfrm>
            <a:prstGeom prst="roundRect">
              <a:avLst>
                <a:gd fmla="val 326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34"/>
            <p:cNvSpPr/>
            <p:nvPr/>
          </p:nvSpPr>
          <p:spPr>
            <a:xfrm>
              <a:off x="6286500" y="1714500"/>
              <a:ext cx="95400" cy="43815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34"/>
            <p:cNvSpPr txBox="1"/>
            <p:nvPr/>
          </p:nvSpPr>
          <p:spPr>
            <a:xfrm>
              <a:off x="6572250" y="1905000"/>
              <a:ext cx="4857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2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📤 Sample Output</a:t>
              </a:r>
              <a:endParaRPr b="1" sz="22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64" name="Google Shape;264;p34"/>
            <p:cNvSpPr txBox="1"/>
            <p:nvPr/>
          </p:nvSpPr>
          <p:spPr>
            <a:xfrm>
              <a:off x="6572250" y="2524125"/>
              <a:ext cx="48579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4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1) documentation.md</a:t>
              </a:r>
              <a:endParaRPr b="1" sz="14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142875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IN" sz="12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AI-generated project documentation uploaded to Google Drive</a:t>
              </a:r>
              <a:endParaRPr b="0" sz="12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IN" sz="14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2) Gmail Alert</a:t>
              </a:r>
              <a:endParaRPr b="1" sz="14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142875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IN" sz="12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"AI Documentation Generated — view file link attached"</a:t>
              </a:r>
              <a:endParaRPr b="0" sz="12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5"/>
          <p:cNvSpPr/>
          <p:nvPr/>
        </p:nvSpPr>
        <p:spPr>
          <a:xfrm>
            <a:off x="0" y="0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5"/>
          <p:cNvSpPr/>
          <p:nvPr/>
        </p:nvSpPr>
        <p:spPr>
          <a:xfrm>
            <a:off x="0" y="6334125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5"/>
          <p:cNvSpPr txBox="1"/>
          <p:nvPr/>
        </p:nvSpPr>
        <p:spPr>
          <a:xfrm>
            <a:off x="571500" y="714375"/>
            <a:ext cx="1104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800">
                <a:solidFill>
                  <a:srgbClr val="1A4D4E"/>
                </a:solidFill>
                <a:latin typeface="Raleway"/>
                <a:ea typeface="Raleway"/>
                <a:cs typeface="Raleway"/>
                <a:sym typeface="Raleway"/>
              </a:rPr>
              <a:t>Target Audience &amp; Stakeholders</a:t>
            </a:r>
            <a:endParaRPr b="1" sz="3800">
              <a:solidFill>
                <a:srgbClr val="1A4D4E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77" name="Google Shape;277;p35"/>
          <p:cNvGrpSpPr/>
          <p:nvPr/>
        </p:nvGrpSpPr>
        <p:grpSpPr>
          <a:xfrm>
            <a:off x="762000" y="1714500"/>
            <a:ext cx="5143500" cy="2095500"/>
            <a:chOff x="762000" y="1714500"/>
            <a:chExt cx="5143500" cy="2095500"/>
          </a:xfrm>
        </p:grpSpPr>
        <p:sp>
          <p:nvSpPr>
            <p:cNvPr id="278" name="Google Shape;278;p35"/>
            <p:cNvSpPr/>
            <p:nvPr/>
          </p:nvSpPr>
          <p:spPr>
            <a:xfrm>
              <a:off x="762000" y="1714500"/>
              <a:ext cx="5143500" cy="2095500"/>
            </a:xfrm>
            <a:prstGeom prst="roundRect">
              <a:avLst>
                <a:gd fmla="val 6818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35"/>
            <p:cNvSpPr/>
            <p:nvPr/>
          </p:nvSpPr>
          <p:spPr>
            <a:xfrm>
              <a:off x="762000" y="1714500"/>
              <a:ext cx="95400" cy="20955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35"/>
            <p:cNvSpPr txBox="1"/>
            <p:nvPr/>
          </p:nvSpPr>
          <p:spPr>
            <a:xfrm>
              <a:off x="1047750" y="1905000"/>
              <a:ext cx="4572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0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👨‍💻 Developers</a:t>
              </a:r>
              <a:endParaRPr b="1" sz="20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IN" sz="13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Save hours on documentation. Focus on writing code, not describing it. Get auto-generated inline comments and READMEs instantly.</a:t>
              </a:r>
              <a:endParaRPr b="0" sz="13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81" name="Google Shape;281;p35"/>
          <p:cNvGrpSpPr/>
          <p:nvPr/>
        </p:nvGrpSpPr>
        <p:grpSpPr>
          <a:xfrm>
            <a:off x="6286500" y="1714500"/>
            <a:ext cx="5143500" cy="2095500"/>
            <a:chOff x="6286500" y="1714500"/>
            <a:chExt cx="5143500" cy="2095500"/>
          </a:xfrm>
        </p:grpSpPr>
        <p:sp>
          <p:nvSpPr>
            <p:cNvPr id="282" name="Google Shape;282;p35"/>
            <p:cNvSpPr/>
            <p:nvPr/>
          </p:nvSpPr>
          <p:spPr>
            <a:xfrm>
              <a:off x="6286500" y="1714500"/>
              <a:ext cx="5143500" cy="2095500"/>
            </a:xfrm>
            <a:prstGeom prst="roundRect">
              <a:avLst>
                <a:gd fmla="val 6818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5"/>
            <p:cNvSpPr/>
            <p:nvPr/>
          </p:nvSpPr>
          <p:spPr>
            <a:xfrm>
              <a:off x="6286500" y="1714500"/>
              <a:ext cx="95400" cy="20955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35"/>
            <p:cNvSpPr txBox="1"/>
            <p:nvPr/>
          </p:nvSpPr>
          <p:spPr>
            <a:xfrm>
              <a:off x="6572250" y="1905000"/>
              <a:ext cx="4572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0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🧑‍🎓 Onboarding Engineers</a:t>
              </a:r>
              <a:endParaRPr b="1" sz="20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IN" sz="13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Understand new codebases faster with auto-generated architecture summaries and component explanations.</a:t>
              </a:r>
              <a:endParaRPr b="0" sz="13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85" name="Google Shape;285;p35"/>
          <p:cNvGrpSpPr/>
          <p:nvPr/>
        </p:nvGrpSpPr>
        <p:grpSpPr>
          <a:xfrm>
            <a:off x="762000" y="4000500"/>
            <a:ext cx="5143500" cy="2095500"/>
            <a:chOff x="762000" y="4000500"/>
            <a:chExt cx="5143500" cy="2095500"/>
          </a:xfrm>
        </p:grpSpPr>
        <p:sp>
          <p:nvSpPr>
            <p:cNvPr id="286" name="Google Shape;286;p35"/>
            <p:cNvSpPr/>
            <p:nvPr/>
          </p:nvSpPr>
          <p:spPr>
            <a:xfrm>
              <a:off x="762000" y="4000500"/>
              <a:ext cx="5143500" cy="2095500"/>
            </a:xfrm>
            <a:prstGeom prst="roundRect">
              <a:avLst>
                <a:gd fmla="val 6818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35"/>
            <p:cNvSpPr/>
            <p:nvPr/>
          </p:nvSpPr>
          <p:spPr>
            <a:xfrm>
              <a:off x="762000" y="4000500"/>
              <a:ext cx="95400" cy="20955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35"/>
            <p:cNvSpPr txBox="1"/>
            <p:nvPr/>
          </p:nvSpPr>
          <p:spPr>
            <a:xfrm>
              <a:off x="1047750" y="4191000"/>
              <a:ext cx="4572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0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🏗 Engineering Managers</a:t>
              </a:r>
              <a:endParaRPr b="1" sz="20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IN" sz="13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Enforce documentation standards across teams without manual reviews. Ensure every PR is documented before merge.</a:t>
              </a:r>
              <a:endParaRPr b="0" sz="13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89" name="Google Shape;289;p35"/>
          <p:cNvGrpSpPr/>
          <p:nvPr/>
        </p:nvGrpSpPr>
        <p:grpSpPr>
          <a:xfrm>
            <a:off x="6286500" y="4000500"/>
            <a:ext cx="5143500" cy="2095500"/>
            <a:chOff x="6286500" y="4000500"/>
            <a:chExt cx="5143500" cy="2095500"/>
          </a:xfrm>
        </p:grpSpPr>
        <p:sp>
          <p:nvSpPr>
            <p:cNvPr id="290" name="Google Shape;290;p35"/>
            <p:cNvSpPr/>
            <p:nvPr/>
          </p:nvSpPr>
          <p:spPr>
            <a:xfrm>
              <a:off x="6286500" y="4000500"/>
              <a:ext cx="5143500" cy="2095500"/>
            </a:xfrm>
            <a:prstGeom prst="roundRect">
              <a:avLst>
                <a:gd fmla="val 6818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5"/>
            <p:cNvSpPr/>
            <p:nvPr/>
          </p:nvSpPr>
          <p:spPr>
            <a:xfrm>
              <a:off x="6286500" y="4000500"/>
              <a:ext cx="95400" cy="20955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35"/>
            <p:cNvSpPr txBox="1"/>
            <p:nvPr/>
          </p:nvSpPr>
          <p:spPr>
            <a:xfrm>
              <a:off x="6572250" y="4191000"/>
              <a:ext cx="4572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0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✍️ Technical Writers</a:t>
              </a:r>
              <a:endParaRPr b="1" sz="20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IN" sz="13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Use AI-generated drafts as a starting point. Spend time on quality edits rather than starting from scratch.</a:t>
              </a:r>
              <a:endParaRPr b="0" sz="13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6"/>
          <p:cNvSpPr/>
          <p:nvPr/>
        </p:nvSpPr>
        <p:spPr>
          <a:xfrm>
            <a:off x="0" y="0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6"/>
          <p:cNvSpPr/>
          <p:nvPr/>
        </p:nvSpPr>
        <p:spPr>
          <a:xfrm>
            <a:off x="0" y="6334125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6"/>
          <p:cNvSpPr txBox="1"/>
          <p:nvPr/>
        </p:nvSpPr>
        <p:spPr>
          <a:xfrm>
            <a:off x="571500" y="714375"/>
            <a:ext cx="1104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800">
                <a:solidFill>
                  <a:srgbClr val="1A4D4E"/>
                </a:solidFill>
                <a:latin typeface="Raleway"/>
                <a:ea typeface="Raleway"/>
                <a:cs typeface="Raleway"/>
                <a:sym typeface="Raleway"/>
              </a:rPr>
              <a:t>Business Value &amp; Operational Impact</a:t>
            </a:r>
            <a:endParaRPr b="1" sz="3800">
              <a:solidFill>
                <a:srgbClr val="1A4D4E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305" name="Google Shape;305;p36"/>
          <p:cNvGrpSpPr/>
          <p:nvPr/>
        </p:nvGrpSpPr>
        <p:grpSpPr>
          <a:xfrm>
            <a:off x="571500" y="2095500"/>
            <a:ext cx="2571900" cy="2857500"/>
            <a:chOff x="571500" y="2095500"/>
            <a:chExt cx="2571900" cy="2857500"/>
          </a:xfrm>
        </p:grpSpPr>
        <p:sp>
          <p:nvSpPr>
            <p:cNvPr id="306" name="Google Shape;306;p36"/>
            <p:cNvSpPr/>
            <p:nvPr/>
          </p:nvSpPr>
          <p:spPr>
            <a:xfrm>
              <a:off x="571500" y="2095500"/>
              <a:ext cx="2571900" cy="2857500"/>
            </a:xfrm>
            <a:prstGeom prst="roundRect">
              <a:avLst>
                <a:gd fmla="val 5555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36"/>
            <p:cNvSpPr/>
            <p:nvPr/>
          </p:nvSpPr>
          <p:spPr>
            <a:xfrm>
              <a:off x="571500" y="2095500"/>
              <a:ext cx="2571900" cy="954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36"/>
            <p:cNvSpPr txBox="1"/>
            <p:nvPr/>
          </p:nvSpPr>
          <p:spPr>
            <a:xfrm>
              <a:off x="571500" y="2381250"/>
              <a:ext cx="2571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64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↓70%</a:t>
              </a:r>
              <a:endParaRPr b="1" sz="64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309" name="Google Shape;309;p36"/>
            <p:cNvSpPr txBox="1"/>
            <p:nvPr/>
          </p:nvSpPr>
          <p:spPr>
            <a:xfrm>
              <a:off x="571500" y="3810000"/>
              <a:ext cx="2571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IN" sz="16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Docs writing time</a:t>
              </a:r>
              <a:endParaRPr b="0" sz="16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310" name="Google Shape;310;p36"/>
          <p:cNvGrpSpPr/>
          <p:nvPr/>
        </p:nvGrpSpPr>
        <p:grpSpPr>
          <a:xfrm>
            <a:off x="3400425" y="2095500"/>
            <a:ext cx="2571900" cy="2857500"/>
            <a:chOff x="3400425" y="2095500"/>
            <a:chExt cx="2571900" cy="2857500"/>
          </a:xfrm>
        </p:grpSpPr>
        <p:sp>
          <p:nvSpPr>
            <p:cNvPr id="311" name="Google Shape;311;p36"/>
            <p:cNvSpPr/>
            <p:nvPr/>
          </p:nvSpPr>
          <p:spPr>
            <a:xfrm>
              <a:off x="3400425" y="2095500"/>
              <a:ext cx="2571900" cy="2857500"/>
            </a:xfrm>
            <a:prstGeom prst="roundRect">
              <a:avLst>
                <a:gd fmla="val 5555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6"/>
            <p:cNvSpPr/>
            <p:nvPr/>
          </p:nvSpPr>
          <p:spPr>
            <a:xfrm>
              <a:off x="3400425" y="2095500"/>
              <a:ext cx="2571900" cy="954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36"/>
            <p:cNvSpPr txBox="1"/>
            <p:nvPr/>
          </p:nvSpPr>
          <p:spPr>
            <a:xfrm>
              <a:off x="3400425" y="2381250"/>
              <a:ext cx="2571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64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↑3x</a:t>
              </a:r>
              <a:endParaRPr b="1" sz="64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314" name="Google Shape;314;p36"/>
            <p:cNvSpPr txBox="1"/>
            <p:nvPr/>
          </p:nvSpPr>
          <p:spPr>
            <a:xfrm>
              <a:off x="3400425" y="3810000"/>
              <a:ext cx="2571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IN" sz="16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Onboarding speed</a:t>
              </a:r>
              <a:endParaRPr b="0" sz="16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315" name="Google Shape;315;p36"/>
          <p:cNvGrpSpPr/>
          <p:nvPr/>
        </p:nvGrpSpPr>
        <p:grpSpPr>
          <a:xfrm>
            <a:off x="6219825" y="2095500"/>
            <a:ext cx="2571900" cy="2857500"/>
            <a:chOff x="6219825" y="2095500"/>
            <a:chExt cx="2571900" cy="2857500"/>
          </a:xfrm>
        </p:grpSpPr>
        <p:sp>
          <p:nvSpPr>
            <p:cNvPr id="316" name="Google Shape;316;p36"/>
            <p:cNvSpPr/>
            <p:nvPr/>
          </p:nvSpPr>
          <p:spPr>
            <a:xfrm>
              <a:off x="6219825" y="2095500"/>
              <a:ext cx="2571900" cy="2857500"/>
            </a:xfrm>
            <a:prstGeom prst="roundRect">
              <a:avLst>
                <a:gd fmla="val 5555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6"/>
            <p:cNvSpPr/>
            <p:nvPr/>
          </p:nvSpPr>
          <p:spPr>
            <a:xfrm>
              <a:off x="6219825" y="2095500"/>
              <a:ext cx="2571900" cy="954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6"/>
            <p:cNvSpPr txBox="1"/>
            <p:nvPr/>
          </p:nvSpPr>
          <p:spPr>
            <a:xfrm>
              <a:off x="6219825" y="2381250"/>
              <a:ext cx="2571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64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↓40%</a:t>
              </a:r>
              <a:endParaRPr b="1" sz="64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319" name="Google Shape;319;p36"/>
            <p:cNvSpPr txBox="1"/>
            <p:nvPr/>
          </p:nvSpPr>
          <p:spPr>
            <a:xfrm>
              <a:off x="6219825" y="3810000"/>
              <a:ext cx="2571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IN" sz="16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PR review time</a:t>
              </a:r>
              <a:endParaRPr b="0" sz="16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320" name="Google Shape;320;p36"/>
          <p:cNvGrpSpPr/>
          <p:nvPr/>
        </p:nvGrpSpPr>
        <p:grpSpPr>
          <a:xfrm>
            <a:off x="9048750" y="2095500"/>
            <a:ext cx="2571900" cy="2857500"/>
            <a:chOff x="9048750" y="2095500"/>
            <a:chExt cx="2571900" cy="2857500"/>
          </a:xfrm>
        </p:grpSpPr>
        <p:sp>
          <p:nvSpPr>
            <p:cNvPr id="321" name="Google Shape;321;p36"/>
            <p:cNvSpPr/>
            <p:nvPr/>
          </p:nvSpPr>
          <p:spPr>
            <a:xfrm>
              <a:off x="9048750" y="2095500"/>
              <a:ext cx="2571900" cy="2857500"/>
            </a:xfrm>
            <a:prstGeom prst="roundRect">
              <a:avLst>
                <a:gd fmla="val 5555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6"/>
            <p:cNvSpPr/>
            <p:nvPr/>
          </p:nvSpPr>
          <p:spPr>
            <a:xfrm>
              <a:off x="9048750" y="2095500"/>
              <a:ext cx="2571900" cy="954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6"/>
            <p:cNvSpPr txBox="1"/>
            <p:nvPr/>
          </p:nvSpPr>
          <p:spPr>
            <a:xfrm>
              <a:off x="9048750" y="2381250"/>
              <a:ext cx="2571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64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100%</a:t>
              </a:r>
              <a:endParaRPr b="1" sz="64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324" name="Google Shape;324;p36"/>
            <p:cNvSpPr txBox="1"/>
            <p:nvPr/>
          </p:nvSpPr>
          <p:spPr>
            <a:xfrm>
              <a:off x="9048750" y="3810000"/>
              <a:ext cx="2571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IN" sz="16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Coverage on push</a:t>
              </a:r>
              <a:endParaRPr b="0" sz="16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7"/>
          <p:cNvSpPr/>
          <p:nvPr/>
        </p:nvSpPr>
        <p:spPr>
          <a:xfrm>
            <a:off x="0" y="0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7"/>
          <p:cNvSpPr/>
          <p:nvPr/>
        </p:nvSpPr>
        <p:spPr>
          <a:xfrm>
            <a:off x="0" y="6334125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7"/>
          <p:cNvSpPr txBox="1"/>
          <p:nvPr/>
        </p:nvSpPr>
        <p:spPr>
          <a:xfrm>
            <a:off x="571500" y="714375"/>
            <a:ext cx="1104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800">
                <a:solidFill>
                  <a:srgbClr val="1A4D4E"/>
                </a:solidFill>
                <a:latin typeface="Raleway"/>
                <a:ea typeface="Raleway"/>
                <a:cs typeface="Raleway"/>
                <a:sym typeface="Raleway"/>
              </a:rPr>
              <a:t>Core Value Deliverables</a:t>
            </a:r>
            <a:endParaRPr b="1" sz="3800">
              <a:solidFill>
                <a:srgbClr val="1A4D4E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337" name="Google Shape;337;p37"/>
          <p:cNvGrpSpPr/>
          <p:nvPr/>
        </p:nvGrpSpPr>
        <p:grpSpPr>
          <a:xfrm>
            <a:off x="571500" y="1714500"/>
            <a:ext cx="5334000" cy="1285800"/>
            <a:chOff x="571500" y="1714500"/>
            <a:chExt cx="5334000" cy="1285800"/>
          </a:xfrm>
        </p:grpSpPr>
        <p:sp>
          <p:nvSpPr>
            <p:cNvPr id="338" name="Google Shape;338;p37"/>
            <p:cNvSpPr/>
            <p:nvPr/>
          </p:nvSpPr>
          <p:spPr>
            <a:xfrm>
              <a:off x="571500" y="1714500"/>
              <a:ext cx="5334000" cy="1285800"/>
            </a:xfrm>
            <a:prstGeom prst="roundRect">
              <a:avLst>
                <a:gd fmla="val 11111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7"/>
            <p:cNvSpPr/>
            <p:nvPr/>
          </p:nvSpPr>
          <p:spPr>
            <a:xfrm>
              <a:off x="571500" y="1714500"/>
              <a:ext cx="95400" cy="12858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7"/>
            <p:cNvSpPr txBox="1"/>
            <p:nvPr/>
          </p:nvSpPr>
          <p:spPr>
            <a:xfrm>
              <a:off x="809625" y="18924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rgbClr val="348E9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2400">
                <a:solidFill>
                  <a:srgbClr val="348E9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41" name="Google Shape;341;p37"/>
            <p:cNvSpPr txBox="1"/>
            <p:nvPr/>
          </p:nvSpPr>
          <p:spPr>
            <a:xfrm>
              <a:off x="1285875" y="1857375"/>
              <a:ext cx="44292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Faster Onboarding</a:t>
              </a:r>
              <a:endParaRPr b="1" sz="16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12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New developers understand code structure immediately through AI-generated architecture summaries.</a:t>
              </a:r>
              <a:endParaRPr b="0" sz="12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342" name="Google Shape;342;p37"/>
          <p:cNvGrpSpPr/>
          <p:nvPr/>
        </p:nvGrpSpPr>
        <p:grpSpPr>
          <a:xfrm>
            <a:off x="6286500" y="1714500"/>
            <a:ext cx="5334000" cy="1285800"/>
            <a:chOff x="6286500" y="1714500"/>
            <a:chExt cx="5334000" cy="1285800"/>
          </a:xfrm>
        </p:grpSpPr>
        <p:sp>
          <p:nvSpPr>
            <p:cNvPr id="343" name="Google Shape;343;p37"/>
            <p:cNvSpPr/>
            <p:nvPr/>
          </p:nvSpPr>
          <p:spPr>
            <a:xfrm>
              <a:off x="6286500" y="1714500"/>
              <a:ext cx="5334000" cy="1285800"/>
            </a:xfrm>
            <a:prstGeom prst="roundRect">
              <a:avLst>
                <a:gd fmla="val 11111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7"/>
            <p:cNvSpPr/>
            <p:nvPr/>
          </p:nvSpPr>
          <p:spPr>
            <a:xfrm>
              <a:off x="6286500" y="1714500"/>
              <a:ext cx="95400" cy="12858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7"/>
            <p:cNvSpPr txBox="1"/>
            <p:nvPr/>
          </p:nvSpPr>
          <p:spPr>
            <a:xfrm>
              <a:off x="6524625" y="18924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rgbClr val="348E9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2400">
                <a:solidFill>
                  <a:srgbClr val="348E9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46" name="Google Shape;346;p37"/>
            <p:cNvSpPr txBox="1"/>
            <p:nvPr/>
          </p:nvSpPr>
          <p:spPr>
            <a:xfrm>
              <a:off x="7000875" y="1857375"/>
              <a:ext cx="44292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Consistent Documentation</a:t>
              </a:r>
              <a:endParaRPr b="1" sz="16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12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Uniform doc style enforced automatically across all repos and teams — no more guessing.</a:t>
              </a:r>
              <a:endParaRPr b="0" sz="12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347" name="Google Shape;347;p37"/>
          <p:cNvGrpSpPr/>
          <p:nvPr/>
        </p:nvGrpSpPr>
        <p:grpSpPr>
          <a:xfrm>
            <a:off x="571500" y="3190875"/>
            <a:ext cx="5334000" cy="1285800"/>
            <a:chOff x="571500" y="3190875"/>
            <a:chExt cx="5334000" cy="1285800"/>
          </a:xfrm>
        </p:grpSpPr>
        <p:sp>
          <p:nvSpPr>
            <p:cNvPr id="348" name="Google Shape;348;p37"/>
            <p:cNvSpPr/>
            <p:nvPr/>
          </p:nvSpPr>
          <p:spPr>
            <a:xfrm>
              <a:off x="571500" y="3190875"/>
              <a:ext cx="5334000" cy="1285800"/>
            </a:xfrm>
            <a:prstGeom prst="roundRect">
              <a:avLst>
                <a:gd fmla="val 11111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7"/>
            <p:cNvSpPr/>
            <p:nvPr/>
          </p:nvSpPr>
          <p:spPr>
            <a:xfrm>
              <a:off x="571500" y="3190875"/>
              <a:ext cx="95400" cy="12858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7"/>
            <p:cNvSpPr txBox="1"/>
            <p:nvPr/>
          </p:nvSpPr>
          <p:spPr>
            <a:xfrm>
              <a:off x="809625" y="33688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rgbClr val="348E9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2400">
                <a:solidFill>
                  <a:srgbClr val="348E9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51" name="Google Shape;351;p37"/>
            <p:cNvSpPr txBox="1"/>
            <p:nvPr/>
          </p:nvSpPr>
          <p:spPr>
            <a:xfrm>
              <a:off x="1285875" y="3333750"/>
              <a:ext cx="44292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Fewer Misunderstandings</a:t>
              </a:r>
              <a:endParaRPr b="1" sz="16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12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Human-readable explanations reduce back-and-forth between developers and stakeholders.</a:t>
              </a:r>
              <a:endParaRPr b="0" sz="12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352" name="Google Shape;352;p37"/>
          <p:cNvGrpSpPr/>
          <p:nvPr/>
        </p:nvGrpSpPr>
        <p:grpSpPr>
          <a:xfrm>
            <a:off x="6286500" y="3190875"/>
            <a:ext cx="5334000" cy="1285800"/>
            <a:chOff x="6286500" y="3190875"/>
            <a:chExt cx="5334000" cy="1285800"/>
          </a:xfrm>
        </p:grpSpPr>
        <p:sp>
          <p:nvSpPr>
            <p:cNvPr id="353" name="Google Shape;353;p37"/>
            <p:cNvSpPr/>
            <p:nvPr/>
          </p:nvSpPr>
          <p:spPr>
            <a:xfrm>
              <a:off x="6286500" y="3190875"/>
              <a:ext cx="5334000" cy="1285800"/>
            </a:xfrm>
            <a:prstGeom prst="roundRect">
              <a:avLst>
                <a:gd fmla="val 11111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7"/>
            <p:cNvSpPr/>
            <p:nvPr/>
          </p:nvSpPr>
          <p:spPr>
            <a:xfrm>
              <a:off x="6286500" y="3190875"/>
              <a:ext cx="95400" cy="12858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7"/>
            <p:cNvSpPr txBox="1"/>
            <p:nvPr/>
          </p:nvSpPr>
          <p:spPr>
            <a:xfrm>
              <a:off x="6524625" y="33688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rgbClr val="348E9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2400">
                <a:solidFill>
                  <a:srgbClr val="348E9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56" name="Google Shape;356;p37"/>
            <p:cNvSpPr txBox="1"/>
            <p:nvPr/>
          </p:nvSpPr>
          <p:spPr>
            <a:xfrm>
              <a:off x="7000875" y="3333750"/>
              <a:ext cx="44292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Improved Maintainability</a:t>
              </a:r>
              <a:endParaRPr b="1" sz="16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12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Well-documented code is easier to refactor, debug, and handoff to new owners.</a:t>
              </a:r>
              <a:endParaRPr b="0" sz="12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357" name="Google Shape;357;p37"/>
          <p:cNvGrpSpPr/>
          <p:nvPr/>
        </p:nvGrpSpPr>
        <p:grpSpPr>
          <a:xfrm>
            <a:off x="571500" y="4667250"/>
            <a:ext cx="5334000" cy="1285800"/>
            <a:chOff x="571500" y="4667250"/>
            <a:chExt cx="5334000" cy="1285800"/>
          </a:xfrm>
        </p:grpSpPr>
        <p:sp>
          <p:nvSpPr>
            <p:cNvPr id="358" name="Google Shape;358;p37"/>
            <p:cNvSpPr/>
            <p:nvPr/>
          </p:nvSpPr>
          <p:spPr>
            <a:xfrm>
              <a:off x="571500" y="4667250"/>
              <a:ext cx="5334000" cy="1285800"/>
            </a:xfrm>
            <a:prstGeom prst="roundRect">
              <a:avLst>
                <a:gd fmla="val 11111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7"/>
            <p:cNvSpPr/>
            <p:nvPr/>
          </p:nvSpPr>
          <p:spPr>
            <a:xfrm>
              <a:off x="571500" y="4667250"/>
              <a:ext cx="95400" cy="12858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7"/>
            <p:cNvSpPr txBox="1"/>
            <p:nvPr/>
          </p:nvSpPr>
          <p:spPr>
            <a:xfrm>
              <a:off x="809625" y="4845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rgbClr val="348E9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2400">
                <a:solidFill>
                  <a:srgbClr val="348E9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61" name="Google Shape;361;p37"/>
            <p:cNvSpPr txBox="1"/>
            <p:nvPr/>
          </p:nvSpPr>
          <p:spPr>
            <a:xfrm>
              <a:off x="1285875" y="4810125"/>
              <a:ext cx="44292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Reduced PR Review Time</a:t>
              </a:r>
              <a:endParaRPr b="1" sz="16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12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Reviewers spend less time decoding logic when every PR ships with auto-generated context.</a:t>
              </a:r>
              <a:endParaRPr b="0" sz="12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362" name="Google Shape;362;p37"/>
          <p:cNvGrpSpPr/>
          <p:nvPr/>
        </p:nvGrpSpPr>
        <p:grpSpPr>
          <a:xfrm>
            <a:off x="6286500" y="4667250"/>
            <a:ext cx="5334000" cy="1285800"/>
            <a:chOff x="6286500" y="4667250"/>
            <a:chExt cx="5334000" cy="1285800"/>
          </a:xfrm>
        </p:grpSpPr>
        <p:sp>
          <p:nvSpPr>
            <p:cNvPr id="363" name="Google Shape;363;p37"/>
            <p:cNvSpPr/>
            <p:nvPr/>
          </p:nvSpPr>
          <p:spPr>
            <a:xfrm>
              <a:off x="6286500" y="4667250"/>
              <a:ext cx="5334000" cy="1285800"/>
            </a:xfrm>
            <a:prstGeom prst="roundRect">
              <a:avLst>
                <a:gd fmla="val 11111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37"/>
            <p:cNvSpPr/>
            <p:nvPr/>
          </p:nvSpPr>
          <p:spPr>
            <a:xfrm>
              <a:off x="6286500" y="4667250"/>
              <a:ext cx="95400" cy="12858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7"/>
            <p:cNvSpPr txBox="1"/>
            <p:nvPr/>
          </p:nvSpPr>
          <p:spPr>
            <a:xfrm>
              <a:off x="6524625" y="4845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rgbClr val="348E9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2400">
                <a:solidFill>
                  <a:srgbClr val="348E9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66" name="Google Shape;366;p37"/>
            <p:cNvSpPr txBox="1"/>
            <p:nvPr/>
          </p:nvSpPr>
          <p:spPr>
            <a:xfrm>
              <a:off x="7000875" y="4810125"/>
              <a:ext cx="44292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Zero Extra Effort</a:t>
              </a:r>
              <a:endParaRPr b="1" sz="16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IN" sz="12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Fully automated on push/PR — developers get documentation without changing their workflow.</a:t>
              </a:r>
              <a:endParaRPr b="0" sz="12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8"/>
          <p:cNvSpPr/>
          <p:nvPr/>
        </p:nvSpPr>
        <p:spPr>
          <a:xfrm>
            <a:off x="0" y="0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8"/>
          <p:cNvSpPr/>
          <p:nvPr/>
        </p:nvSpPr>
        <p:spPr>
          <a:xfrm>
            <a:off x="0" y="6334125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8"/>
          <p:cNvSpPr txBox="1"/>
          <p:nvPr/>
        </p:nvSpPr>
        <p:spPr>
          <a:xfrm>
            <a:off x="571500" y="714375"/>
            <a:ext cx="1104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800">
                <a:solidFill>
                  <a:srgbClr val="1A4D4E"/>
                </a:solidFill>
                <a:latin typeface="Raleway"/>
                <a:ea typeface="Raleway"/>
                <a:cs typeface="Raleway"/>
                <a:sym typeface="Raleway"/>
              </a:rPr>
              <a:t>Workflow Transformation: Before vs. After</a:t>
            </a:r>
            <a:endParaRPr b="1" sz="3800">
              <a:solidFill>
                <a:srgbClr val="1A4D4E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379" name="Google Shape;379;p38"/>
          <p:cNvGrpSpPr/>
          <p:nvPr/>
        </p:nvGrpSpPr>
        <p:grpSpPr>
          <a:xfrm>
            <a:off x="571500" y="1714500"/>
            <a:ext cx="5381700" cy="4381500"/>
            <a:chOff x="571500" y="1714500"/>
            <a:chExt cx="5381700" cy="4381500"/>
          </a:xfrm>
        </p:grpSpPr>
        <p:sp>
          <p:nvSpPr>
            <p:cNvPr id="380" name="Google Shape;380;p38"/>
            <p:cNvSpPr/>
            <p:nvPr/>
          </p:nvSpPr>
          <p:spPr>
            <a:xfrm>
              <a:off x="571500" y="1714500"/>
              <a:ext cx="5381700" cy="4381500"/>
            </a:xfrm>
            <a:prstGeom prst="roundRect">
              <a:avLst>
                <a:gd fmla="val 326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8"/>
            <p:cNvSpPr/>
            <p:nvPr/>
          </p:nvSpPr>
          <p:spPr>
            <a:xfrm>
              <a:off x="571500" y="1714500"/>
              <a:ext cx="5381700" cy="95400"/>
            </a:xfrm>
            <a:prstGeom prst="roundRect">
              <a:avLst>
                <a:gd fmla="val 50000" name="adj"/>
              </a:avLst>
            </a:prstGeom>
            <a:solidFill>
              <a:srgbClr val="B222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8"/>
            <p:cNvSpPr txBox="1"/>
            <p:nvPr/>
          </p:nvSpPr>
          <p:spPr>
            <a:xfrm>
              <a:off x="571500" y="1905000"/>
              <a:ext cx="5381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200">
                  <a:solidFill>
                    <a:srgbClr val="B22222"/>
                  </a:solidFill>
                  <a:latin typeface="Raleway"/>
                  <a:ea typeface="Raleway"/>
                  <a:cs typeface="Raleway"/>
                  <a:sym typeface="Raleway"/>
                </a:rPr>
                <a:t>❌ Before</a:t>
              </a:r>
              <a:endParaRPr b="1" sz="2200">
                <a:solidFill>
                  <a:srgbClr val="B22222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383" name="Google Shape;383;p38"/>
            <p:cNvSpPr txBox="1"/>
            <p:nvPr/>
          </p:nvSpPr>
          <p:spPr>
            <a:xfrm>
              <a:off x="857250" y="2476500"/>
              <a:ext cx="48102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75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4A4A4A"/>
                </a:buClr>
                <a:buSzPts val="1400"/>
                <a:buFont typeface="Raleway"/>
                <a:buChar char="●"/>
              </a:pPr>
              <a:r>
                <a:rPr b="0" lang="en-IN" sz="14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Developers write docs manually — slow and inconsistent</a:t>
              </a:r>
              <a:endParaRPr b="0" sz="14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317500" lvl="0" marL="457200" rtl="0" algn="l">
                <a:spcBef>
                  <a:spcPts val="1350"/>
                </a:spcBef>
                <a:spcAft>
                  <a:spcPts val="0"/>
                </a:spcAft>
                <a:buClr>
                  <a:srgbClr val="4A4A4A"/>
                </a:buClr>
                <a:buSzPts val="1400"/>
                <a:buFont typeface="Raleway"/>
                <a:buChar char="●"/>
              </a:pPr>
              <a:r>
                <a:rPr b="0" lang="en-IN" sz="14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READMEs often missing or outdated after updates</a:t>
              </a:r>
              <a:endParaRPr b="0" sz="14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317500" lvl="0" marL="457200" rtl="0" algn="l">
                <a:spcBef>
                  <a:spcPts val="1350"/>
                </a:spcBef>
                <a:spcAft>
                  <a:spcPts val="0"/>
                </a:spcAft>
                <a:buClr>
                  <a:srgbClr val="4A4A4A"/>
                </a:buClr>
                <a:buSzPts val="1400"/>
                <a:buFont typeface="Raleway"/>
                <a:buChar char="●"/>
              </a:pPr>
              <a:r>
                <a:rPr b="0" lang="en-IN" sz="14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No architecture docs for new joiners</a:t>
              </a:r>
              <a:endParaRPr b="0" sz="14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317500" lvl="0" marL="457200" rtl="0" algn="l">
                <a:spcBef>
                  <a:spcPts val="1350"/>
                </a:spcBef>
                <a:spcAft>
                  <a:spcPts val="0"/>
                </a:spcAft>
                <a:buClr>
                  <a:srgbClr val="4A4A4A"/>
                </a:buClr>
                <a:buSzPts val="1400"/>
                <a:buFont typeface="Raleway"/>
                <a:buChar char="●"/>
              </a:pPr>
              <a:r>
                <a:rPr b="0" lang="en-IN" sz="14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Hours lost to PR back-and-forth asking 'what does this do?'</a:t>
              </a:r>
              <a:endParaRPr b="0" sz="14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317500" lvl="0" marL="457200" rtl="0" algn="l">
                <a:spcBef>
                  <a:spcPts val="1350"/>
                </a:spcBef>
                <a:spcAft>
                  <a:spcPts val="1350"/>
                </a:spcAft>
                <a:buClr>
                  <a:srgbClr val="4A4A4A"/>
                </a:buClr>
                <a:buSzPts val="1400"/>
                <a:buFont typeface="Raleway"/>
                <a:buChar char="●"/>
              </a:pPr>
              <a:r>
                <a:rPr b="0" lang="en-IN" sz="14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Documentation is an afterthought, done (if ever) at release</a:t>
              </a:r>
              <a:endParaRPr b="0" sz="14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384" name="Google Shape;384;p38"/>
          <p:cNvGrpSpPr/>
          <p:nvPr/>
        </p:nvGrpSpPr>
        <p:grpSpPr>
          <a:xfrm>
            <a:off x="6238875" y="1714500"/>
            <a:ext cx="5381700" cy="4381500"/>
            <a:chOff x="6238875" y="1714500"/>
            <a:chExt cx="5381700" cy="4381500"/>
          </a:xfrm>
        </p:grpSpPr>
        <p:sp>
          <p:nvSpPr>
            <p:cNvPr id="385" name="Google Shape;385;p38"/>
            <p:cNvSpPr/>
            <p:nvPr/>
          </p:nvSpPr>
          <p:spPr>
            <a:xfrm>
              <a:off x="6238875" y="1714500"/>
              <a:ext cx="5381700" cy="4381500"/>
            </a:xfrm>
            <a:prstGeom prst="roundRect">
              <a:avLst>
                <a:gd fmla="val 326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8"/>
            <p:cNvSpPr/>
            <p:nvPr/>
          </p:nvSpPr>
          <p:spPr>
            <a:xfrm>
              <a:off x="6238875" y="1714500"/>
              <a:ext cx="5381700" cy="954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8"/>
            <p:cNvSpPr txBox="1"/>
            <p:nvPr/>
          </p:nvSpPr>
          <p:spPr>
            <a:xfrm>
              <a:off x="6238875" y="1905000"/>
              <a:ext cx="5381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200">
                  <a:solidFill>
                    <a:srgbClr val="348E90"/>
                  </a:solidFill>
                  <a:latin typeface="Raleway"/>
                  <a:ea typeface="Raleway"/>
                  <a:cs typeface="Raleway"/>
                  <a:sym typeface="Raleway"/>
                </a:rPr>
                <a:t>✅ After</a:t>
              </a:r>
              <a:endParaRPr b="1" sz="2200">
                <a:solidFill>
                  <a:srgbClr val="348E9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388" name="Google Shape;388;p38"/>
            <p:cNvSpPr txBox="1"/>
            <p:nvPr/>
          </p:nvSpPr>
          <p:spPr>
            <a:xfrm>
              <a:off x="6524625" y="2476500"/>
              <a:ext cx="48102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75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4A4A4A"/>
                </a:buClr>
                <a:buSzPts val="1400"/>
                <a:buFont typeface="Raleway"/>
                <a:buChar char="●"/>
              </a:pPr>
              <a:r>
                <a:rPr b="0" lang="en-IN" sz="14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Docs auto-generated on every push — zero developer effort</a:t>
              </a:r>
              <a:endParaRPr b="0" sz="14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317500" lvl="0" marL="457200" rtl="0" algn="l">
                <a:spcBef>
                  <a:spcPts val="1350"/>
                </a:spcBef>
                <a:spcAft>
                  <a:spcPts val="0"/>
                </a:spcAft>
                <a:buClr>
                  <a:srgbClr val="4A4A4A"/>
                </a:buClr>
                <a:buSzPts val="1400"/>
                <a:buFont typeface="Raleway"/>
                <a:buChar char="●"/>
              </a:pPr>
              <a:r>
                <a:rPr b="0" lang="en-IN" sz="14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README always up-to-date and synced with latest code</a:t>
              </a:r>
              <a:endParaRPr b="0" sz="14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317500" lvl="0" marL="457200" rtl="0" algn="l">
                <a:spcBef>
                  <a:spcPts val="1350"/>
                </a:spcBef>
                <a:spcAft>
                  <a:spcPts val="0"/>
                </a:spcAft>
                <a:buClr>
                  <a:srgbClr val="4A4A4A"/>
                </a:buClr>
                <a:buSzPts val="1400"/>
                <a:buFont typeface="Raleway"/>
                <a:buChar char="●"/>
              </a:pPr>
              <a:r>
                <a:rPr b="0" lang="en-IN" sz="14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Architecture summary ready for day-one onboarding</a:t>
              </a:r>
              <a:endParaRPr b="0" sz="14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317500" lvl="0" marL="457200" rtl="0" algn="l">
                <a:spcBef>
                  <a:spcPts val="1350"/>
                </a:spcBef>
                <a:spcAft>
                  <a:spcPts val="0"/>
                </a:spcAft>
                <a:buClr>
                  <a:srgbClr val="4A4A4A"/>
                </a:buClr>
                <a:buSzPts val="1400"/>
                <a:buFont typeface="Raleway"/>
                <a:buChar char="●"/>
              </a:pPr>
              <a:r>
                <a:rPr b="0" lang="en-IN" sz="14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PR reviewers have full context before they open the diff</a:t>
              </a:r>
              <a:endParaRPr b="0" sz="14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317500" lvl="0" marL="457200" rtl="0" algn="l">
                <a:spcBef>
                  <a:spcPts val="1350"/>
                </a:spcBef>
                <a:spcAft>
                  <a:spcPts val="1350"/>
                </a:spcAft>
                <a:buClr>
                  <a:srgbClr val="4A4A4A"/>
                </a:buClr>
                <a:buSzPts val="1400"/>
                <a:buFont typeface="Raleway"/>
                <a:buChar char="●"/>
              </a:pPr>
              <a:r>
                <a:rPr b="0" lang="en-IN" sz="1400">
                  <a:solidFill>
                    <a:srgbClr val="4A4A4A"/>
                  </a:solidFill>
                  <a:latin typeface="Raleway"/>
                  <a:ea typeface="Raleway"/>
                  <a:cs typeface="Raleway"/>
                  <a:sym typeface="Raleway"/>
                </a:rPr>
                <a:t>Documentation is continuous and happens in real time</a:t>
              </a:r>
              <a:endParaRPr b="0" sz="14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9"/>
          <p:cNvSpPr/>
          <p:nvPr/>
        </p:nvSpPr>
        <p:spPr>
          <a:xfrm>
            <a:off x="0" y="0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9"/>
          <p:cNvSpPr/>
          <p:nvPr/>
        </p:nvSpPr>
        <p:spPr>
          <a:xfrm>
            <a:off x="0" y="6334125"/>
            <a:ext cx="12192000" cy="523800"/>
          </a:xfrm>
          <a:prstGeom prst="rect">
            <a:avLst/>
          </a:prstGeom>
          <a:solidFill>
            <a:srgbClr val="348E9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9"/>
          <p:cNvSpPr txBox="1"/>
          <p:nvPr/>
        </p:nvSpPr>
        <p:spPr>
          <a:xfrm>
            <a:off x="571500" y="714375"/>
            <a:ext cx="1104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800">
                <a:solidFill>
                  <a:srgbClr val="1A4D4E"/>
                </a:solidFill>
                <a:latin typeface="Raleway"/>
                <a:ea typeface="Raleway"/>
                <a:cs typeface="Raleway"/>
                <a:sym typeface="Raleway"/>
              </a:rPr>
              <a:t>Project Summary &amp; Conclusion</a:t>
            </a:r>
            <a:endParaRPr b="1" sz="3800">
              <a:solidFill>
                <a:srgbClr val="1A4D4E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01" name="Google Shape;401;p39"/>
          <p:cNvSpPr/>
          <p:nvPr/>
        </p:nvSpPr>
        <p:spPr>
          <a:xfrm>
            <a:off x="571500" y="1714500"/>
            <a:ext cx="11049000" cy="228600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9"/>
          <p:cNvSpPr txBox="1"/>
          <p:nvPr/>
        </p:nvSpPr>
        <p:spPr>
          <a:xfrm>
            <a:off x="952500" y="1905000"/>
            <a:ext cx="10287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>
                <a:solidFill>
                  <a:srgbClr val="4A4A4A"/>
                </a:solidFill>
                <a:latin typeface="Raleway"/>
                <a:ea typeface="Raleway"/>
                <a:cs typeface="Raleway"/>
                <a:sym typeface="Raleway"/>
              </a:rPr>
              <a:t>The AI-Based Code Explanation &amp; Documentation Generator is an end-to-end agentic pipeline built on n8n that automatically transforms raw code into structured, human-readable documentation. It eliminates manual documentation effort, enforces consistency, and delivers value to developers, managers, and technical writers — all triggered by a simple GitHub push.</a:t>
            </a:r>
            <a:endParaRPr b="0" sz="1800">
              <a:solidFill>
                <a:srgbClr val="4A4A4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403" name="Google Shape;403;p39"/>
          <p:cNvGrpSpPr/>
          <p:nvPr/>
        </p:nvGrpSpPr>
        <p:grpSpPr>
          <a:xfrm>
            <a:off x="571500" y="4572000"/>
            <a:ext cx="11049000" cy="571500"/>
            <a:chOff x="571500" y="4572000"/>
            <a:chExt cx="11049000" cy="571500"/>
          </a:xfrm>
        </p:grpSpPr>
        <p:sp>
          <p:nvSpPr>
            <p:cNvPr id="404" name="Google Shape;404;p39"/>
            <p:cNvSpPr/>
            <p:nvPr/>
          </p:nvSpPr>
          <p:spPr>
            <a:xfrm>
              <a:off x="571500" y="4572000"/>
              <a:ext cx="1714500" cy="5715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9"/>
            <p:cNvSpPr txBox="1"/>
            <p:nvPr/>
          </p:nvSpPr>
          <p:spPr>
            <a:xfrm>
              <a:off x="571500" y="4572000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🤖 LLM-Powered</a:t>
              </a:r>
              <a:endParaRPr b="1" sz="1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06" name="Google Shape;406;p39"/>
            <p:cNvSpPr/>
            <p:nvPr/>
          </p:nvSpPr>
          <p:spPr>
            <a:xfrm>
              <a:off x="2438400" y="4572000"/>
              <a:ext cx="1714500" cy="5715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9"/>
            <p:cNvSpPr txBox="1"/>
            <p:nvPr/>
          </p:nvSpPr>
          <p:spPr>
            <a:xfrm>
              <a:off x="2438400" y="4572000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⚡ Fully Automated</a:t>
              </a:r>
              <a:endParaRPr b="1" sz="1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08" name="Google Shape;408;p39"/>
            <p:cNvSpPr/>
            <p:nvPr/>
          </p:nvSpPr>
          <p:spPr>
            <a:xfrm>
              <a:off x="4305300" y="4572000"/>
              <a:ext cx="1714500" cy="5715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9"/>
            <p:cNvSpPr txBox="1"/>
            <p:nvPr/>
          </p:nvSpPr>
          <p:spPr>
            <a:xfrm>
              <a:off x="4305300" y="4572000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🔗 GitHub Native</a:t>
              </a:r>
              <a:endParaRPr b="1" sz="1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10" name="Google Shape;410;p39"/>
            <p:cNvSpPr/>
            <p:nvPr/>
          </p:nvSpPr>
          <p:spPr>
            <a:xfrm>
              <a:off x="6172200" y="4572000"/>
              <a:ext cx="1714500" cy="5715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9"/>
            <p:cNvSpPr txBox="1"/>
            <p:nvPr/>
          </p:nvSpPr>
          <p:spPr>
            <a:xfrm>
              <a:off x="6172200" y="4572000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📋 Always Up-to-Date</a:t>
              </a:r>
              <a:endParaRPr b="1" sz="1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12" name="Google Shape;412;p39"/>
            <p:cNvSpPr/>
            <p:nvPr/>
          </p:nvSpPr>
          <p:spPr>
            <a:xfrm>
              <a:off x="8039100" y="4572000"/>
              <a:ext cx="1714500" cy="5715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9"/>
            <p:cNvSpPr txBox="1"/>
            <p:nvPr/>
          </p:nvSpPr>
          <p:spPr>
            <a:xfrm>
              <a:off x="8039100" y="4572000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🌐 No-Code (n8n)</a:t>
              </a:r>
              <a:endParaRPr b="1" sz="1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14" name="Google Shape;414;p39"/>
            <p:cNvSpPr/>
            <p:nvPr/>
          </p:nvSpPr>
          <p:spPr>
            <a:xfrm>
              <a:off x="9906000" y="4572000"/>
              <a:ext cx="1714500" cy="571500"/>
            </a:xfrm>
            <a:prstGeom prst="roundRect">
              <a:avLst>
                <a:gd fmla="val 50000" name="adj"/>
              </a:avLst>
            </a:prstGeom>
            <a:solidFill>
              <a:srgbClr val="348E9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9"/>
            <p:cNvSpPr txBox="1"/>
            <p:nvPr/>
          </p:nvSpPr>
          <p:spPr>
            <a:xfrm>
              <a:off x="9906000" y="4572000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📣 Slack/Email Notify</a:t>
              </a:r>
              <a:endParaRPr b="1" sz="1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0"/>
          <p:cNvSpPr txBox="1"/>
          <p:nvPr>
            <p:ph idx="1" type="subTitle"/>
          </p:nvPr>
        </p:nvSpPr>
        <p:spPr>
          <a:xfrm>
            <a:off x="2849000" y="2488624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 fontScale="92500" lnSpcReduction="10000"/>
          </a:bodyPr>
          <a:lstStyle/>
          <a:p>
            <a:pPr indent="-457189" lvl="0" marL="60958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0541"/>
              <a:buNone/>
            </a:pPr>
            <a:r>
              <a:rPr b="1" lang="en-IN" sz="6400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Grayscal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ropic">
  <a:themeElements>
    <a:clrScheme name="Grayscal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